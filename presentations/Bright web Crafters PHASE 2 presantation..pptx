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69" r:id="rId17"/>
  </p:sldIdLst>
  <p:sldSz cx="18288000" cy="10287000"/>
  <p:notesSz cx="6858000" cy="9144000"/>
  <p:embeddedFontLst>
    <p:embeddedFont>
      <p:font typeface="Poppins Bold" panose="020B0604020202020204" charset="0"/>
      <p:regular r:id="rId18"/>
    </p:embeddedFont>
    <p:embeddedFont>
      <p:font typeface="TT Firs Neue" panose="020B0604020202020204" charset="0"/>
      <p:regular r:id="rId19"/>
    </p:embeddedFont>
    <p:embeddedFont>
      <p:font typeface="Canva Sans" panose="020B0604020202020204" charset="0"/>
      <p:regular r:id="rId20"/>
    </p:embeddedFont>
    <p:embeddedFont>
      <p:font typeface="Agrandir Bold" panose="020B0604020202020204" charset="0"/>
      <p:regular r:id="rId21"/>
    </p:embeddedFont>
    <p:embeddedFont>
      <p:font typeface="Abril Fatface" panose="020B0604020202020204" charset="0"/>
      <p:regular r:id="rId22"/>
    </p:embeddedFont>
    <p:embeddedFont>
      <p:font typeface="Poppins" panose="020B0604020202020204" charset="0"/>
      <p:regular r:id="rId23"/>
    </p:embeddedFont>
    <p:embeddedFont>
      <p:font typeface="TT Firs Neue Bold" panose="020B0604020202020204" charset="0"/>
      <p:regular r:id="rId24"/>
    </p:embeddedFont>
    <p:embeddedFont>
      <p:font typeface="Heading Now 71-78" panose="020B0604020202020204" charset="0"/>
      <p:regular r:id="rId25"/>
    </p:embeddedFont>
    <p:embeddedFont>
      <p:font typeface="Calibri" panose="020F0502020204030204"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varScale="1">
        <p:scale>
          <a:sx n="65" d="100"/>
          <a:sy n="65" d="100"/>
        </p:scale>
        <p:origin x="125" y="-1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jpe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3.svg"/><Relationship Id="rId10"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3.svg"/><Relationship Id="rId4" Type="http://schemas.openxmlformats.org/officeDocument/2006/relationships/image" Target="../media/image8.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 Id="rId9"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 Id="rId9" Type="http://schemas.openxmlformats.org/officeDocument/2006/relationships/hyperlink" Target="APP"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10" Type="http://schemas.openxmlformats.org/officeDocument/2006/relationships/image" Target="../media/image18.jpeg"/><Relationship Id="rId4" Type="http://schemas.openxmlformats.org/officeDocument/2006/relationships/hyperlink" Target="Student%20Admin%20Website:" TargetMode="External"/><Relationship Id="rId9" Type="http://schemas.openxmlformats.org/officeDocument/2006/relationships/image" Target="../media/image11.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 Id="rId9" Type="http://schemas.openxmlformats.org/officeDocument/2006/relationships/image" Target="../media/image11.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 Id="rId9" Type="http://schemas.openxmlformats.org/officeDocument/2006/relationships/image" Target="../media/image11.sv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svg"/><Relationship Id="rId10" Type="http://schemas.openxmlformats.org/officeDocument/2006/relationships/image" Target="../media/image19.jpe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1893528" y="1251407"/>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0" y="0"/>
            <a:ext cx="6757351" cy="10195044"/>
          </a:xfrm>
          <a:custGeom>
            <a:avLst/>
            <a:gdLst/>
            <a:ahLst/>
            <a:cxnLst/>
            <a:rect l="l" t="t" r="r" b="b"/>
            <a:pathLst>
              <a:path w="6757351" h="10195044">
                <a:moveTo>
                  <a:pt x="0" y="0"/>
                </a:moveTo>
                <a:lnTo>
                  <a:pt x="6757351" y="0"/>
                </a:lnTo>
                <a:lnTo>
                  <a:pt x="6757351" y="10195044"/>
                </a:lnTo>
                <a:lnTo>
                  <a:pt x="0" y="10195044"/>
                </a:lnTo>
                <a:lnTo>
                  <a:pt x="0" y="0"/>
                </a:lnTo>
                <a:close/>
              </a:path>
            </a:pathLst>
          </a:custGeom>
          <a:blipFill>
            <a:blip r:embed="rId4"/>
            <a:stretch>
              <a:fillRect l="-4314" r="-4314"/>
            </a:stretch>
          </a:blipFill>
        </p:spPr>
      </p:sp>
      <p:grpSp>
        <p:nvGrpSpPr>
          <p:cNvPr id="4" name="Group 4"/>
          <p:cNvGrpSpPr/>
          <p:nvPr/>
        </p:nvGrpSpPr>
        <p:grpSpPr>
          <a:xfrm>
            <a:off x="5273986" y="2983100"/>
            <a:ext cx="8762879" cy="4228845"/>
            <a:chOff x="0" y="0"/>
            <a:chExt cx="2307919" cy="1113770"/>
          </a:xfrm>
        </p:grpSpPr>
        <p:sp>
          <p:nvSpPr>
            <p:cNvPr id="5" name="Freeform 5"/>
            <p:cNvSpPr/>
            <p:nvPr/>
          </p:nvSpPr>
          <p:spPr>
            <a:xfrm>
              <a:off x="0" y="0"/>
              <a:ext cx="2307919" cy="1113770"/>
            </a:xfrm>
            <a:custGeom>
              <a:avLst/>
              <a:gdLst/>
              <a:ahLst/>
              <a:cxnLst/>
              <a:rect l="l" t="t" r="r" b="b"/>
              <a:pathLst>
                <a:path w="2307919" h="1113770">
                  <a:moveTo>
                    <a:pt x="16786" y="0"/>
                  </a:moveTo>
                  <a:lnTo>
                    <a:pt x="2291132" y="0"/>
                  </a:lnTo>
                  <a:cubicBezTo>
                    <a:pt x="2300403" y="0"/>
                    <a:pt x="2307919" y="7515"/>
                    <a:pt x="2307919" y="16786"/>
                  </a:cubicBezTo>
                  <a:lnTo>
                    <a:pt x="2307919" y="1096984"/>
                  </a:lnTo>
                  <a:cubicBezTo>
                    <a:pt x="2307919" y="1101436"/>
                    <a:pt x="2306150" y="1105705"/>
                    <a:pt x="2303002" y="1108853"/>
                  </a:cubicBezTo>
                  <a:cubicBezTo>
                    <a:pt x="2299854" y="1112001"/>
                    <a:pt x="2295584" y="1113770"/>
                    <a:pt x="2291132" y="1113770"/>
                  </a:cubicBezTo>
                  <a:lnTo>
                    <a:pt x="16786" y="1113770"/>
                  </a:lnTo>
                  <a:cubicBezTo>
                    <a:pt x="12334" y="1113770"/>
                    <a:pt x="8065" y="1112001"/>
                    <a:pt x="4917" y="1108853"/>
                  </a:cubicBezTo>
                  <a:cubicBezTo>
                    <a:pt x="1769" y="1105705"/>
                    <a:pt x="0" y="1101436"/>
                    <a:pt x="0" y="1096984"/>
                  </a:cubicBezTo>
                  <a:lnTo>
                    <a:pt x="0" y="16786"/>
                  </a:lnTo>
                  <a:cubicBezTo>
                    <a:pt x="0" y="12334"/>
                    <a:pt x="1769" y="8065"/>
                    <a:pt x="4917" y="4917"/>
                  </a:cubicBezTo>
                  <a:cubicBezTo>
                    <a:pt x="8065" y="1769"/>
                    <a:pt x="12334" y="0"/>
                    <a:pt x="16786" y="0"/>
                  </a:cubicBezTo>
                  <a:close/>
                </a:path>
              </a:pathLst>
            </a:custGeom>
            <a:solidFill>
              <a:srgbClr val="B6B9C2"/>
            </a:solidFill>
          </p:spPr>
        </p:sp>
        <p:sp>
          <p:nvSpPr>
            <p:cNvPr id="6" name="TextBox 6"/>
            <p:cNvSpPr txBox="1"/>
            <p:nvPr/>
          </p:nvSpPr>
          <p:spPr>
            <a:xfrm>
              <a:off x="0" y="-47625"/>
              <a:ext cx="2307919" cy="1161395"/>
            </a:xfrm>
            <a:prstGeom prst="rect">
              <a:avLst/>
            </a:prstGeom>
          </p:spPr>
          <p:txBody>
            <a:bodyPr lIns="50800" tIns="50800" rIns="50800" bIns="50800" rtlCol="0" anchor="ctr"/>
            <a:lstStyle/>
            <a:p>
              <a:pPr algn="ctr">
                <a:lnSpc>
                  <a:spcPts val="2800"/>
                </a:lnSpc>
              </a:pPr>
              <a:endParaRPr/>
            </a:p>
          </p:txBody>
        </p:sp>
      </p:grpSp>
      <p:sp>
        <p:nvSpPr>
          <p:cNvPr id="7" name="Freeform 7"/>
          <p:cNvSpPr/>
          <p:nvPr/>
        </p:nvSpPr>
        <p:spPr>
          <a:xfrm>
            <a:off x="-1158061" y="33578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8" name="Freeform 8"/>
          <p:cNvSpPr/>
          <p:nvPr/>
        </p:nvSpPr>
        <p:spPr>
          <a:xfrm>
            <a:off x="5273986" y="9298405"/>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9" name="Group 9"/>
          <p:cNvGrpSpPr/>
          <p:nvPr/>
        </p:nvGrpSpPr>
        <p:grpSpPr>
          <a:xfrm>
            <a:off x="7737113" y="2625509"/>
            <a:ext cx="3836625" cy="578254"/>
            <a:chOff x="0" y="0"/>
            <a:chExt cx="1010469" cy="152297"/>
          </a:xfrm>
        </p:grpSpPr>
        <p:sp>
          <p:nvSpPr>
            <p:cNvPr id="10" name="Freeform 10"/>
            <p:cNvSpPr/>
            <p:nvPr/>
          </p:nvSpPr>
          <p:spPr>
            <a:xfrm>
              <a:off x="0" y="0"/>
              <a:ext cx="1010469" cy="152297"/>
            </a:xfrm>
            <a:custGeom>
              <a:avLst/>
              <a:gdLst/>
              <a:ahLst/>
              <a:cxnLst/>
              <a:rect l="l" t="t" r="r" b="b"/>
              <a:pathLst>
                <a:path w="1010469" h="152297">
                  <a:moveTo>
                    <a:pt x="76149" y="0"/>
                  </a:moveTo>
                  <a:lnTo>
                    <a:pt x="934320" y="0"/>
                  </a:lnTo>
                  <a:cubicBezTo>
                    <a:pt x="976376" y="0"/>
                    <a:pt x="1010469" y="34093"/>
                    <a:pt x="1010469" y="76149"/>
                  </a:cubicBezTo>
                  <a:lnTo>
                    <a:pt x="1010469" y="76149"/>
                  </a:lnTo>
                  <a:cubicBezTo>
                    <a:pt x="1010469" y="118204"/>
                    <a:pt x="976376" y="152297"/>
                    <a:pt x="934320" y="152297"/>
                  </a:cubicBezTo>
                  <a:lnTo>
                    <a:pt x="76149" y="152297"/>
                  </a:lnTo>
                  <a:cubicBezTo>
                    <a:pt x="34093" y="152297"/>
                    <a:pt x="0" y="118204"/>
                    <a:pt x="0" y="76149"/>
                  </a:cubicBezTo>
                  <a:lnTo>
                    <a:pt x="0" y="76149"/>
                  </a:lnTo>
                  <a:cubicBezTo>
                    <a:pt x="0" y="34093"/>
                    <a:pt x="34093" y="0"/>
                    <a:pt x="76149" y="0"/>
                  </a:cubicBezTo>
                  <a:close/>
                </a:path>
              </a:pathLst>
            </a:custGeom>
            <a:solidFill>
              <a:srgbClr val="0D2529"/>
            </a:solidFill>
          </p:spPr>
        </p:sp>
        <p:sp>
          <p:nvSpPr>
            <p:cNvPr id="11" name="TextBox 11"/>
            <p:cNvSpPr txBox="1"/>
            <p:nvPr/>
          </p:nvSpPr>
          <p:spPr>
            <a:xfrm>
              <a:off x="0" y="-47625"/>
              <a:ext cx="1010469" cy="199922"/>
            </a:xfrm>
            <a:prstGeom prst="rect">
              <a:avLst/>
            </a:prstGeom>
          </p:spPr>
          <p:txBody>
            <a:bodyPr lIns="50800" tIns="50800" rIns="50800" bIns="50800" rtlCol="0" anchor="ctr"/>
            <a:lstStyle/>
            <a:p>
              <a:pPr algn="ctr">
                <a:lnSpc>
                  <a:spcPts val="2800"/>
                </a:lnSpc>
              </a:pPr>
              <a:endParaRPr/>
            </a:p>
          </p:txBody>
        </p:sp>
      </p:grpSp>
      <p:sp>
        <p:nvSpPr>
          <p:cNvPr id="12" name="AutoShape 12"/>
          <p:cNvSpPr/>
          <p:nvPr/>
        </p:nvSpPr>
        <p:spPr>
          <a:xfrm>
            <a:off x="8386644" y="6439820"/>
            <a:ext cx="2537562" cy="0"/>
          </a:xfrm>
          <a:prstGeom prst="line">
            <a:avLst/>
          </a:prstGeom>
          <a:ln w="66675" cap="rnd">
            <a:solidFill>
              <a:srgbClr val="0D2529"/>
            </a:solidFill>
            <a:prstDash val="solid"/>
            <a:headEnd type="none" w="sm" len="sm"/>
            <a:tailEnd type="none" w="sm" len="sm"/>
          </a:ln>
        </p:spPr>
      </p:sp>
      <p:sp>
        <p:nvSpPr>
          <p:cNvPr id="13" name="Freeform 13"/>
          <p:cNvSpPr/>
          <p:nvPr/>
        </p:nvSpPr>
        <p:spPr>
          <a:xfrm>
            <a:off x="6761917" y="717868"/>
            <a:ext cx="1710585" cy="453500"/>
          </a:xfrm>
          <a:custGeom>
            <a:avLst/>
            <a:gdLst/>
            <a:ahLst/>
            <a:cxnLst/>
            <a:rect l="l" t="t" r="r" b="b"/>
            <a:pathLst>
              <a:path w="1710585" h="453500">
                <a:moveTo>
                  <a:pt x="0" y="0"/>
                </a:moveTo>
                <a:lnTo>
                  <a:pt x="1710585" y="0"/>
                </a:lnTo>
                <a:lnTo>
                  <a:pt x="1710585" y="453500"/>
                </a:lnTo>
                <a:lnTo>
                  <a:pt x="0" y="453500"/>
                </a:lnTo>
                <a:lnTo>
                  <a:pt x="0" y="0"/>
                </a:lnTo>
                <a:close/>
              </a:path>
            </a:pathLst>
          </a:custGeom>
          <a:blipFill>
            <a:blip r:embed="rId5">
              <a:extLst>
                <a:ext uri="{96DAC541-7B7A-43D3-8B79-37D633B846F1}">
                  <asvg:svgBlip xmlns:asvg="http://schemas.microsoft.com/office/drawing/2016/SVG/main" xmlns="" r:embed="rId6"/>
                </a:ext>
              </a:extLst>
            </a:blip>
            <a:stretch>
              <a:fillRect t="-128590" r="-10735"/>
            </a:stretch>
          </a:blipFill>
        </p:spPr>
      </p:sp>
      <p:sp>
        <p:nvSpPr>
          <p:cNvPr id="14" name="Freeform 14"/>
          <p:cNvSpPr/>
          <p:nvPr/>
        </p:nvSpPr>
        <p:spPr>
          <a:xfrm rot="-5400000">
            <a:off x="14760589" y="6114942"/>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5">
              <a:extLst>
                <a:ext uri="{96DAC541-7B7A-43D3-8B79-37D633B846F1}">
                  <asvg:svgBlip xmlns:asvg="http://schemas.microsoft.com/office/drawing/2016/SVG/main" xmlns="" r:embed="rId6"/>
                </a:ext>
              </a:extLst>
            </a:blip>
            <a:stretch>
              <a:fillRect t="-128590" r="-182255"/>
            </a:stretch>
          </a:blipFill>
        </p:spPr>
      </p:sp>
      <p:sp>
        <p:nvSpPr>
          <p:cNvPr id="15" name="Freeform 15"/>
          <p:cNvSpPr/>
          <p:nvPr/>
        </p:nvSpPr>
        <p:spPr>
          <a:xfrm>
            <a:off x="15469465" y="0"/>
            <a:ext cx="2875304" cy="2875304"/>
          </a:xfrm>
          <a:custGeom>
            <a:avLst/>
            <a:gdLst/>
            <a:ahLst/>
            <a:cxnLst/>
            <a:rect l="l" t="t" r="r" b="b"/>
            <a:pathLst>
              <a:path w="2875304" h="2875304">
                <a:moveTo>
                  <a:pt x="0" y="0"/>
                </a:moveTo>
                <a:lnTo>
                  <a:pt x="2875304" y="0"/>
                </a:lnTo>
                <a:lnTo>
                  <a:pt x="2875304" y="2875304"/>
                </a:lnTo>
                <a:lnTo>
                  <a:pt x="0" y="2875304"/>
                </a:lnTo>
                <a:lnTo>
                  <a:pt x="0" y="0"/>
                </a:lnTo>
                <a:close/>
              </a:path>
            </a:pathLst>
          </a:custGeom>
          <a:blipFill>
            <a:blip r:embed="rId7"/>
            <a:stretch>
              <a:fillRect/>
            </a:stretch>
          </a:blipFill>
        </p:spPr>
      </p:sp>
      <p:sp>
        <p:nvSpPr>
          <p:cNvPr id="16" name="TextBox 16"/>
          <p:cNvSpPr txBox="1"/>
          <p:nvPr/>
        </p:nvSpPr>
        <p:spPr>
          <a:xfrm>
            <a:off x="6310007" y="3279964"/>
            <a:ext cx="6729619" cy="1224281"/>
          </a:xfrm>
          <a:prstGeom prst="rect">
            <a:avLst/>
          </a:prstGeom>
        </p:spPr>
        <p:txBody>
          <a:bodyPr lIns="0" tIns="0" rIns="0" bIns="0" rtlCol="0" anchor="t">
            <a:spAutoFit/>
          </a:bodyPr>
          <a:lstStyle/>
          <a:p>
            <a:pPr algn="ctr">
              <a:lnSpc>
                <a:spcPts val="4700"/>
              </a:lnSpc>
            </a:pPr>
            <a:r>
              <a:rPr lang="en-US" sz="4700" spc="-258">
                <a:solidFill>
                  <a:srgbClr val="0D2529"/>
                </a:solidFill>
                <a:latin typeface="Abril Fatface"/>
                <a:ea typeface="Abril Fatface"/>
                <a:cs typeface="Abril Fatface"/>
                <a:sym typeface="Abril Fatface"/>
              </a:rPr>
              <a:t>S C H O O L - P A R E N T A L S Y S T E M </a:t>
            </a:r>
          </a:p>
        </p:txBody>
      </p:sp>
      <p:sp>
        <p:nvSpPr>
          <p:cNvPr id="17" name="TextBox 17"/>
          <p:cNvSpPr txBox="1"/>
          <p:nvPr/>
        </p:nvSpPr>
        <p:spPr>
          <a:xfrm>
            <a:off x="7508021" y="2719890"/>
            <a:ext cx="4294808" cy="372745"/>
          </a:xfrm>
          <a:prstGeom prst="rect">
            <a:avLst/>
          </a:prstGeom>
        </p:spPr>
        <p:txBody>
          <a:bodyPr lIns="0" tIns="0" rIns="0" bIns="0" rtlCol="0" anchor="t">
            <a:spAutoFit/>
          </a:bodyPr>
          <a:lstStyle/>
          <a:p>
            <a:pPr algn="ctr">
              <a:lnSpc>
                <a:spcPts val="3080"/>
              </a:lnSpc>
            </a:pPr>
            <a:r>
              <a:rPr lang="en-US" sz="2200" b="1">
                <a:solidFill>
                  <a:srgbClr val="F0F0F0"/>
                </a:solidFill>
                <a:latin typeface="TT Firs Neue Bold"/>
                <a:ea typeface="TT Firs Neue Bold"/>
                <a:cs typeface="TT Firs Neue Bold"/>
                <a:sym typeface="TT Firs Neue Bold"/>
              </a:rPr>
              <a:t>BRIGHT WEB CRAFTERS</a:t>
            </a:r>
          </a:p>
        </p:txBody>
      </p:sp>
      <p:sp>
        <p:nvSpPr>
          <p:cNvPr id="18" name="TextBox 18"/>
          <p:cNvSpPr txBox="1"/>
          <p:nvPr/>
        </p:nvSpPr>
        <p:spPr>
          <a:xfrm>
            <a:off x="6165619" y="5903773"/>
            <a:ext cx="7018396" cy="530227"/>
          </a:xfrm>
          <a:prstGeom prst="rect">
            <a:avLst/>
          </a:prstGeom>
        </p:spPr>
        <p:txBody>
          <a:bodyPr lIns="0" tIns="0" rIns="0" bIns="0" rtlCol="0" anchor="t">
            <a:spAutoFit/>
          </a:bodyPr>
          <a:lstStyle/>
          <a:p>
            <a:pPr algn="ctr">
              <a:lnSpc>
                <a:spcPts val="4000"/>
              </a:lnSpc>
            </a:pPr>
            <a:r>
              <a:rPr lang="en-US" sz="4000" spc="-220">
                <a:solidFill>
                  <a:srgbClr val="0D2529"/>
                </a:solidFill>
                <a:latin typeface="Abril Fatface"/>
                <a:ea typeface="Abril Fatface"/>
                <a:cs typeface="Abril Fatface"/>
                <a:sym typeface="Abril Fatface"/>
              </a:rPr>
              <a:t>PHASE  2</a:t>
            </a:r>
          </a:p>
        </p:txBody>
      </p:sp>
      <p:sp>
        <p:nvSpPr>
          <p:cNvPr id="19" name="TextBox 19"/>
          <p:cNvSpPr txBox="1"/>
          <p:nvPr/>
        </p:nvSpPr>
        <p:spPr>
          <a:xfrm>
            <a:off x="6363064" y="4802046"/>
            <a:ext cx="7018396" cy="530227"/>
          </a:xfrm>
          <a:prstGeom prst="rect">
            <a:avLst/>
          </a:prstGeom>
        </p:spPr>
        <p:txBody>
          <a:bodyPr lIns="0" tIns="0" rIns="0" bIns="0" rtlCol="0" anchor="t">
            <a:spAutoFit/>
          </a:bodyPr>
          <a:lstStyle/>
          <a:p>
            <a:pPr algn="ctr">
              <a:lnSpc>
                <a:spcPts val="4000"/>
              </a:lnSpc>
            </a:pPr>
            <a:r>
              <a:rPr lang="en-US" sz="4000" spc="-220">
                <a:solidFill>
                  <a:srgbClr val="0D2529"/>
                </a:solidFill>
                <a:latin typeface="Abril Fatface"/>
                <a:ea typeface="Abril Fatface"/>
                <a:cs typeface="Abril Fatface"/>
                <a:sym typeface="Abril Fatface"/>
              </a:rPr>
              <a:t>I T C 3 2 7 W</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Freeform 2"/>
          <p:cNvSpPr/>
          <p:nvPr/>
        </p:nvSpPr>
        <p:spPr>
          <a:xfrm>
            <a:off x="636422" y="92142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4283438" y="831956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a:off x="206316" y="2281693"/>
            <a:ext cx="5903924" cy="6845307"/>
            <a:chOff x="0" y="0"/>
            <a:chExt cx="1000037" cy="1159493"/>
          </a:xfrm>
        </p:grpSpPr>
        <p:sp>
          <p:nvSpPr>
            <p:cNvPr id="5" name="Freeform 5"/>
            <p:cNvSpPr/>
            <p:nvPr/>
          </p:nvSpPr>
          <p:spPr>
            <a:xfrm>
              <a:off x="0" y="0"/>
              <a:ext cx="1000037" cy="1159493"/>
            </a:xfrm>
            <a:custGeom>
              <a:avLst/>
              <a:gdLst/>
              <a:ahLst/>
              <a:cxnLst/>
              <a:rect l="l" t="t" r="r" b="b"/>
              <a:pathLst>
                <a:path w="1000037" h="1159493">
                  <a:moveTo>
                    <a:pt x="41962" y="0"/>
                  </a:moveTo>
                  <a:lnTo>
                    <a:pt x="958075" y="0"/>
                  </a:lnTo>
                  <a:cubicBezTo>
                    <a:pt x="981250" y="0"/>
                    <a:pt x="1000037" y="18787"/>
                    <a:pt x="1000037" y="41962"/>
                  </a:cubicBezTo>
                  <a:lnTo>
                    <a:pt x="1000037" y="1117531"/>
                  </a:lnTo>
                  <a:cubicBezTo>
                    <a:pt x="1000037" y="1128660"/>
                    <a:pt x="995616" y="1139333"/>
                    <a:pt x="987746" y="1147203"/>
                  </a:cubicBezTo>
                  <a:cubicBezTo>
                    <a:pt x="979877" y="1155072"/>
                    <a:pt x="969204" y="1159493"/>
                    <a:pt x="958075" y="1159493"/>
                  </a:cubicBezTo>
                  <a:lnTo>
                    <a:pt x="41962" y="1159493"/>
                  </a:lnTo>
                  <a:cubicBezTo>
                    <a:pt x="18787" y="1159493"/>
                    <a:pt x="0" y="1140706"/>
                    <a:pt x="0" y="1117531"/>
                  </a:cubicBezTo>
                  <a:lnTo>
                    <a:pt x="0" y="41962"/>
                  </a:lnTo>
                  <a:cubicBezTo>
                    <a:pt x="0" y="18787"/>
                    <a:pt x="18787" y="0"/>
                    <a:pt x="41962" y="0"/>
                  </a:cubicBezTo>
                  <a:close/>
                </a:path>
              </a:pathLst>
            </a:custGeom>
            <a:blipFill>
              <a:blip r:embed="rId4"/>
              <a:stretch>
                <a:fillRect l="-7972" r="-7972"/>
              </a:stretch>
            </a:blipFill>
          </p:spPr>
        </p:sp>
      </p:grpSp>
      <p:sp>
        <p:nvSpPr>
          <p:cNvPr id="6" name="Freeform 6"/>
          <p:cNvSpPr/>
          <p:nvPr/>
        </p:nvSpPr>
        <p:spPr>
          <a:xfrm rot="-2700000">
            <a:off x="6390130" y="6017033"/>
            <a:ext cx="563381" cy="563381"/>
          </a:xfrm>
          <a:custGeom>
            <a:avLst/>
            <a:gdLst/>
            <a:ahLst/>
            <a:cxnLst/>
            <a:rect l="l" t="t" r="r" b="b"/>
            <a:pathLst>
              <a:path w="563381" h="563381">
                <a:moveTo>
                  <a:pt x="0" y="0"/>
                </a:moveTo>
                <a:lnTo>
                  <a:pt x="563381" y="0"/>
                </a:lnTo>
                <a:lnTo>
                  <a:pt x="563381" y="563381"/>
                </a:lnTo>
                <a:lnTo>
                  <a:pt x="0" y="56338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TextBox 7"/>
          <p:cNvSpPr txBox="1"/>
          <p:nvPr/>
        </p:nvSpPr>
        <p:spPr>
          <a:xfrm>
            <a:off x="8819713" y="1213623"/>
            <a:ext cx="5873867" cy="1068070"/>
          </a:xfrm>
          <a:prstGeom prst="rect">
            <a:avLst/>
          </a:prstGeom>
        </p:spPr>
        <p:txBody>
          <a:bodyPr lIns="0" tIns="0" rIns="0" bIns="0" rtlCol="0" anchor="t">
            <a:spAutoFit/>
          </a:bodyPr>
          <a:lstStyle/>
          <a:p>
            <a:pPr algn="l">
              <a:lnSpc>
                <a:spcPts val="6800"/>
              </a:lnSpc>
            </a:pPr>
            <a:r>
              <a:rPr lang="en-US" sz="6800" spc="-374">
                <a:solidFill>
                  <a:srgbClr val="0D2529"/>
                </a:solidFill>
                <a:latin typeface="Heading Now 71-78"/>
                <a:ea typeface="Heading Now 71-78"/>
                <a:cs typeface="Heading Now 71-78"/>
                <a:sym typeface="Heading Now 71-78"/>
              </a:rPr>
              <a:t>Introduction</a:t>
            </a:r>
          </a:p>
        </p:txBody>
      </p:sp>
      <p:sp>
        <p:nvSpPr>
          <p:cNvPr id="8" name="TextBox 8"/>
          <p:cNvSpPr txBox="1"/>
          <p:nvPr/>
        </p:nvSpPr>
        <p:spPr>
          <a:xfrm>
            <a:off x="7232116" y="3144310"/>
            <a:ext cx="10903318" cy="5734051"/>
          </a:xfrm>
          <a:prstGeom prst="rect">
            <a:avLst/>
          </a:prstGeom>
        </p:spPr>
        <p:txBody>
          <a:bodyPr lIns="0" tIns="0" rIns="0" bIns="0" rtlCol="0" anchor="t">
            <a:spAutoFit/>
          </a:bodyPr>
          <a:lstStyle/>
          <a:p>
            <a:pPr marL="0" lvl="0" indent="0" algn="l">
              <a:lnSpc>
                <a:spcPts val="4199"/>
              </a:lnSpc>
            </a:pPr>
            <a:r>
              <a:rPr lang="en-US" sz="2999">
                <a:solidFill>
                  <a:srgbClr val="0D2529"/>
                </a:solidFill>
                <a:latin typeface="TT Firs Neue"/>
                <a:ea typeface="TT Firs Neue"/>
                <a:cs typeface="TT Firs Neue"/>
                <a:sym typeface="TT Firs Neue"/>
              </a:rPr>
              <a:t>In this presentation, we will take you through the system we’ve developed , explaining its architecture, the UML diagrams, the ERD, and the interface designs that bring everything together.</a:t>
            </a:r>
          </a:p>
          <a:p>
            <a:pPr marL="0" lvl="0" indent="0" algn="l">
              <a:lnSpc>
                <a:spcPts val="4199"/>
              </a:lnSpc>
            </a:pPr>
            <a:endParaRPr lang="en-US" sz="2999">
              <a:solidFill>
                <a:srgbClr val="0D2529"/>
              </a:solidFill>
              <a:latin typeface="TT Firs Neue"/>
              <a:ea typeface="TT Firs Neue"/>
              <a:cs typeface="TT Firs Neue"/>
              <a:sym typeface="TT Firs Neue"/>
            </a:endParaRPr>
          </a:p>
          <a:p>
            <a:pPr algn="l">
              <a:lnSpc>
                <a:spcPts val="4199"/>
              </a:lnSpc>
            </a:pPr>
            <a:r>
              <a:rPr lang="en-US" sz="2999">
                <a:solidFill>
                  <a:srgbClr val="0D2529"/>
                </a:solidFill>
                <a:latin typeface="TT Firs Neue"/>
                <a:ea typeface="TT Firs Neue"/>
                <a:cs typeface="TT Firs Neue"/>
                <a:sym typeface="TT Firs Neue"/>
              </a:rPr>
              <a:t>Our aim is not only to show you how the system works, but also to defend the design decisions we made and why they are the most effective solutions for the problem at hand. Each member of our group will contribute, ensuring balanced participation and a clear, well‑organized delivery.</a:t>
            </a:r>
          </a:p>
          <a:p>
            <a:pPr algn="l">
              <a:lnSpc>
                <a:spcPts val="4199"/>
              </a:lnSpc>
            </a:pPr>
            <a:endParaRPr lang="en-US" sz="2999">
              <a:solidFill>
                <a:srgbClr val="0D2529"/>
              </a:solidFill>
              <a:latin typeface="TT Firs Neue"/>
              <a:ea typeface="TT Firs Neue"/>
              <a:cs typeface="TT Firs Neue"/>
              <a:sym typeface="TT Firs Neue"/>
            </a:endParaRPr>
          </a:p>
        </p:txBody>
      </p:sp>
      <p:grpSp>
        <p:nvGrpSpPr>
          <p:cNvPr id="9" name="Group 9"/>
          <p:cNvGrpSpPr/>
          <p:nvPr/>
        </p:nvGrpSpPr>
        <p:grpSpPr>
          <a:xfrm>
            <a:off x="16736418" y="-811576"/>
            <a:ext cx="2479713" cy="8157783"/>
            <a:chOff x="0" y="0"/>
            <a:chExt cx="653093" cy="2148552"/>
          </a:xfrm>
        </p:grpSpPr>
        <p:sp>
          <p:nvSpPr>
            <p:cNvPr id="10" name="Freeform 10"/>
            <p:cNvSpPr/>
            <p:nvPr/>
          </p:nvSpPr>
          <p:spPr>
            <a:xfrm>
              <a:off x="0" y="0"/>
              <a:ext cx="653093" cy="2148552"/>
            </a:xfrm>
            <a:custGeom>
              <a:avLst/>
              <a:gdLst/>
              <a:ahLst/>
              <a:cxnLst/>
              <a:rect l="l" t="t" r="r" b="b"/>
              <a:pathLst>
                <a:path w="653093" h="2148552">
                  <a:moveTo>
                    <a:pt x="0" y="0"/>
                  </a:moveTo>
                  <a:lnTo>
                    <a:pt x="653093" y="0"/>
                  </a:lnTo>
                  <a:lnTo>
                    <a:pt x="653093"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11" name="TextBox 11"/>
            <p:cNvSpPr txBox="1"/>
            <p:nvPr/>
          </p:nvSpPr>
          <p:spPr>
            <a:xfrm>
              <a:off x="0" y="-38100"/>
              <a:ext cx="653093" cy="21866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rot="-10800000">
            <a:off x="14881009" y="1441503"/>
            <a:ext cx="671103" cy="453500"/>
          </a:xfrm>
          <a:custGeom>
            <a:avLst/>
            <a:gdLst/>
            <a:ahLst/>
            <a:cxnLst/>
            <a:rect l="l" t="t" r="r" b="b"/>
            <a:pathLst>
              <a:path w="671103" h="453500">
                <a:moveTo>
                  <a:pt x="0" y="0"/>
                </a:moveTo>
                <a:lnTo>
                  <a:pt x="671103" y="0"/>
                </a:lnTo>
                <a:lnTo>
                  <a:pt x="671103" y="453500"/>
                </a:lnTo>
                <a:lnTo>
                  <a:pt x="0" y="453500"/>
                </a:lnTo>
                <a:lnTo>
                  <a:pt x="0" y="0"/>
                </a:lnTo>
                <a:close/>
              </a:path>
            </a:pathLst>
          </a:custGeom>
          <a:blipFill>
            <a:blip r:embed="rId7">
              <a:extLst>
                <a:ext uri="{96DAC541-7B7A-43D3-8B79-37D633B846F1}">
                  <asvg:svgBlip xmlns:asvg="http://schemas.microsoft.com/office/drawing/2016/SVG/main" xmlns="" r:embed="rId8"/>
                </a:ext>
              </a:extLst>
            </a:blip>
            <a:stretch>
              <a:fillRect t="-128590" r="-182255"/>
            </a:stretch>
          </a:blipFill>
        </p:spPr>
      </p:sp>
      <p:sp>
        <p:nvSpPr>
          <p:cNvPr id="13" name="Freeform 13"/>
          <p:cNvSpPr/>
          <p:nvPr/>
        </p:nvSpPr>
        <p:spPr>
          <a:xfrm rot="-10800000">
            <a:off x="357597" y="6470344"/>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7">
              <a:extLst>
                <a:ext uri="{96DAC541-7B7A-43D3-8B79-37D633B846F1}">
                  <asvg:svgBlip xmlns:asvg="http://schemas.microsoft.com/office/drawing/2016/SVG/main" xmlns="" r:embed="rId8"/>
                </a:ext>
              </a:extLst>
            </a:blip>
            <a:stretch>
              <a:fillRect t="-128590" r="-182255"/>
            </a:stretch>
          </a:blipFill>
        </p:spPr>
      </p:sp>
      <p:sp>
        <p:nvSpPr>
          <p:cNvPr id="14" name="Freeform 14"/>
          <p:cNvSpPr/>
          <p:nvPr/>
        </p:nvSpPr>
        <p:spPr>
          <a:xfrm>
            <a:off x="357597" y="8174256"/>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a:ln cap="sq">
            <a:noFill/>
            <a:prstDash val="solid"/>
            <a:miter/>
          </a:ln>
        </p:spPr>
      </p:sp>
      <p:sp>
        <p:nvSpPr>
          <p:cNvPr id="15" name="Freeform 15"/>
          <p:cNvSpPr/>
          <p:nvPr/>
        </p:nvSpPr>
        <p:spPr>
          <a:xfrm>
            <a:off x="15879881" y="741198"/>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a:ln cap="sq">
            <a:noFill/>
            <a:prstDash val="solid"/>
            <a:miter/>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6859528" y="29145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4750363" y="840775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10800000">
            <a:off x="-25255" y="2226520"/>
            <a:ext cx="2479713" cy="8157783"/>
            <a:chOff x="0" y="0"/>
            <a:chExt cx="653093" cy="2148552"/>
          </a:xfrm>
        </p:grpSpPr>
        <p:sp>
          <p:nvSpPr>
            <p:cNvPr id="5" name="Freeform 5"/>
            <p:cNvSpPr/>
            <p:nvPr/>
          </p:nvSpPr>
          <p:spPr>
            <a:xfrm>
              <a:off x="0" y="0"/>
              <a:ext cx="653093" cy="2148552"/>
            </a:xfrm>
            <a:custGeom>
              <a:avLst/>
              <a:gdLst/>
              <a:ahLst/>
              <a:cxnLst/>
              <a:rect l="l" t="t" r="r" b="b"/>
              <a:pathLst>
                <a:path w="653093" h="2148552">
                  <a:moveTo>
                    <a:pt x="0" y="0"/>
                  </a:moveTo>
                  <a:lnTo>
                    <a:pt x="653093" y="0"/>
                  </a:lnTo>
                  <a:lnTo>
                    <a:pt x="653093"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653093" cy="218665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058415" y="2684677"/>
            <a:ext cx="246946" cy="2469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9" name="TextBox 9"/>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10" name="Freeform 10"/>
          <p:cNvSpPr/>
          <p:nvPr/>
        </p:nvSpPr>
        <p:spPr>
          <a:xfrm>
            <a:off x="14862362" y="6756011"/>
            <a:ext cx="395400" cy="395400"/>
          </a:xfrm>
          <a:custGeom>
            <a:avLst/>
            <a:gdLst/>
            <a:ahLst/>
            <a:cxnLst/>
            <a:rect l="l" t="t" r="r" b="b"/>
            <a:pathLst>
              <a:path w="395400" h="395400">
                <a:moveTo>
                  <a:pt x="0" y="0"/>
                </a:moveTo>
                <a:lnTo>
                  <a:pt x="395400" y="0"/>
                </a:lnTo>
                <a:lnTo>
                  <a:pt x="395400" y="395400"/>
                </a:lnTo>
                <a:lnTo>
                  <a:pt x="0" y="3954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1345137" y="306718"/>
            <a:ext cx="5661092" cy="1340486"/>
          </a:xfrm>
          <a:prstGeom prst="rect">
            <a:avLst/>
          </a:prstGeom>
        </p:spPr>
        <p:txBody>
          <a:bodyPr lIns="0" tIns="0" rIns="0" bIns="0" rtlCol="0" anchor="t">
            <a:spAutoFit/>
          </a:bodyPr>
          <a:lstStyle/>
          <a:p>
            <a:pPr algn="l">
              <a:lnSpc>
                <a:spcPts val="4730"/>
              </a:lnSpc>
            </a:pPr>
            <a:r>
              <a:rPr lang="en-US" sz="4300" b="1">
                <a:solidFill>
                  <a:srgbClr val="0D2529"/>
                </a:solidFill>
                <a:latin typeface="Agrandir Bold"/>
                <a:ea typeface="Agrandir Bold"/>
                <a:cs typeface="Agrandir Bold"/>
                <a:sym typeface="Agrandir Bold"/>
              </a:rPr>
              <a:t>System Architecture</a:t>
            </a:r>
          </a:p>
        </p:txBody>
      </p:sp>
      <p:sp>
        <p:nvSpPr>
          <p:cNvPr id="12" name="Freeform 12"/>
          <p:cNvSpPr/>
          <p:nvPr/>
        </p:nvSpPr>
        <p:spPr>
          <a:xfrm rot="-10800000">
            <a:off x="16400866" y="6923843"/>
            <a:ext cx="671103" cy="453500"/>
          </a:xfrm>
          <a:custGeom>
            <a:avLst/>
            <a:gdLst/>
            <a:ahLst/>
            <a:cxnLst/>
            <a:rect l="l" t="t" r="r" b="b"/>
            <a:pathLst>
              <a:path w="671103" h="453500">
                <a:moveTo>
                  <a:pt x="0" y="0"/>
                </a:moveTo>
                <a:lnTo>
                  <a:pt x="671103" y="0"/>
                </a:lnTo>
                <a:lnTo>
                  <a:pt x="671103" y="453500"/>
                </a:lnTo>
                <a:lnTo>
                  <a:pt x="0" y="453500"/>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3" name="Freeform 13"/>
          <p:cNvSpPr/>
          <p:nvPr/>
        </p:nvSpPr>
        <p:spPr>
          <a:xfrm rot="-10800000">
            <a:off x="5930713" y="947918"/>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4" name="Freeform 14"/>
          <p:cNvSpPr/>
          <p:nvPr/>
        </p:nvSpPr>
        <p:spPr>
          <a:xfrm rot="-10800000">
            <a:off x="1345137" y="8701986"/>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5" name="Freeform 15"/>
          <p:cNvSpPr/>
          <p:nvPr/>
        </p:nvSpPr>
        <p:spPr>
          <a:xfrm>
            <a:off x="12208852" y="587458"/>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grpSp>
        <p:nvGrpSpPr>
          <p:cNvPr id="16" name="Group 16"/>
          <p:cNvGrpSpPr/>
          <p:nvPr/>
        </p:nvGrpSpPr>
        <p:grpSpPr>
          <a:xfrm>
            <a:off x="2633883" y="7812778"/>
            <a:ext cx="249838" cy="24983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18" name="TextBox 18"/>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pic>
        <p:nvPicPr>
          <p:cNvPr id="20" name="Picture 1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46938" y="1416859"/>
            <a:ext cx="12747744" cy="896744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6859528" y="29145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4750363" y="840775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10800000">
            <a:off x="-25255" y="2226520"/>
            <a:ext cx="2479713" cy="8157783"/>
            <a:chOff x="0" y="0"/>
            <a:chExt cx="653093" cy="2148552"/>
          </a:xfrm>
        </p:grpSpPr>
        <p:sp>
          <p:nvSpPr>
            <p:cNvPr id="5" name="Freeform 5"/>
            <p:cNvSpPr/>
            <p:nvPr/>
          </p:nvSpPr>
          <p:spPr>
            <a:xfrm>
              <a:off x="0" y="0"/>
              <a:ext cx="653093" cy="2148552"/>
            </a:xfrm>
            <a:custGeom>
              <a:avLst/>
              <a:gdLst/>
              <a:ahLst/>
              <a:cxnLst/>
              <a:rect l="l" t="t" r="r" b="b"/>
              <a:pathLst>
                <a:path w="653093" h="2148552">
                  <a:moveTo>
                    <a:pt x="0" y="0"/>
                  </a:moveTo>
                  <a:lnTo>
                    <a:pt x="653093" y="0"/>
                  </a:lnTo>
                  <a:lnTo>
                    <a:pt x="653093"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653093" cy="218665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457351" y="2385376"/>
            <a:ext cx="246946" cy="2469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9" name="TextBox 9"/>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10" name="Freeform 10"/>
          <p:cNvSpPr/>
          <p:nvPr/>
        </p:nvSpPr>
        <p:spPr>
          <a:xfrm>
            <a:off x="6455419" y="6829687"/>
            <a:ext cx="395400" cy="395400"/>
          </a:xfrm>
          <a:custGeom>
            <a:avLst/>
            <a:gdLst/>
            <a:ahLst/>
            <a:cxnLst/>
            <a:rect l="l" t="t" r="r" b="b"/>
            <a:pathLst>
              <a:path w="395400" h="395400">
                <a:moveTo>
                  <a:pt x="0" y="0"/>
                </a:moveTo>
                <a:lnTo>
                  <a:pt x="395399" y="0"/>
                </a:lnTo>
                <a:lnTo>
                  <a:pt x="395399" y="395400"/>
                </a:lnTo>
                <a:lnTo>
                  <a:pt x="0" y="3954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605172" y="492442"/>
            <a:ext cx="5661092" cy="967740"/>
          </a:xfrm>
          <a:prstGeom prst="rect">
            <a:avLst/>
          </a:prstGeom>
        </p:spPr>
        <p:txBody>
          <a:bodyPr lIns="0" tIns="0" rIns="0" bIns="0" rtlCol="0" anchor="t">
            <a:spAutoFit/>
          </a:bodyPr>
          <a:lstStyle/>
          <a:p>
            <a:pPr algn="l">
              <a:lnSpc>
                <a:spcPts val="6270"/>
              </a:lnSpc>
            </a:pPr>
            <a:r>
              <a:rPr lang="en-US" sz="5700" b="1">
                <a:solidFill>
                  <a:srgbClr val="0D2529"/>
                </a:solidFill>
                <a:latin typeface="Agrandir Bold"/>
                <a:ea typeface="Agrandir Bold"/>
                <a:cs typeface="Agrandir Bold"/>
                <a:sym typeface="Agrandir Bold"/>
              </a:rPr>
              <a:t>CONT.</a:t>
            </a:r>
          </a:p>
        </p:txBody>
      </p:sp>
      <p:sp>
        <p:nvSpPr>
          <p:cNvPr id="12" name="Freeform 12"/>
          <p:cNvSpPr/>
          <p:nvPr/>
        </p:nvSpPr>
        <p:spPr>
          <a:xfrm rot="-10800000">
            <a:off x="16529429" y="1552635"/>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3" name="Freeform 13"/>
          <p:cNvSpPr/>
          <p:nvPr/>
        </p:nvSpPr>
        <p:spPr>
          <a:xfrm rot="-10800000">
            <a:off x="5930713" y="947918"/>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4" name="Freeform 14"/>
          <p:cNvSpPr/>
          <p:nvPr/>
        </p:nvSpPr>
        <p:spPr>
          <a:xfrm rot="-10800000">
            <a:off x="1345137" y="8701986"/>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5" name="Freeform 15"/>
          <p:cNvSpPr/>
          <p:nvPr/>
        </p:nvSpPr>
        <p:spPr>
          <a:xfrm>
            <a:off x="12208852" y="587458"/>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grpSp>
        <p:nvGrpSpPr>
          <p:cNvPr id="16" name="Group 16"/>
          <p:cNvGrpSpPr/>
          <p:nvPr/>
        </p:nvGrpSpPr>
        <p:grpSpPr>
          <a:xfrm>
            <a:off x="2454458" y="6180493"/>
            <a:ext cx="249838" cy="24983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18" name="TextBox 18"/>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19" name="TextBox 19"/>
          <p:cNvSpPr txBox="1"/>
          <p:nvPr/>
        </p:nvSpPr>
        <p:spPr>
          <a:xfrm>
            <a:off x="2805800" y="2159845"/>
            <a:ext cx="14059180" cy="4572636"/>
          </a:xfrm>
          <a:prstGeom prst="rect">
            <a:avLst/>
          </a:prstGeom>
        </p:spPr>
        <p:txBody>
          <a:bodyPr lIns="0" tIns="0" rIns="0" bIns="0" rtlCol="0" anchor="t">
            <a:spAutoFit/>
          </a:bodyPr>
          <a:lstStyle/>
          <a:p>
            <a:pPr algn="l">
              <a:lnSpc>
                <a:spcPts val="3639"/>
              </a:lnSpc>
            </a:pPr>
            <a:r>
              <a:rPr lang="en-US" sz="2599">
                <a:solidFill>
                  <a:srgbClr val="0D2529"/>
                </a:solidFill>
                <a:latin typeface="Poppins"/>
                <a:ea typeface="Poppins"/>
                <a:cs typeface="Poppins"/>
                <a:sym typeface="Poppins"/>
              </a:rPr>
              <a:t>Our system architecture consists of four main user groups: Super Admin, School Admin, Teachers, and Parents. Administrators and teachers access the system through an ASP.NET web application, while parents access it through a Flutter mobile application. Both applications communicate with a shared Supabase backend through secure HTTPS API requests. Supabase provides authentication, role-based access, a PostgreSQL database, and storage for documents and student information. This allows all users to access the information relevant to their roles while keeping the data centralized and securely managed.</a:t>
            </a:r>
          </a:p>
          <a:p>
            <a:pPr algn="l">
              <a:lnSpc>
                <a:spcPts val="3639"/>
              </a:lnSpc>
            </a:pPr>
            <a:endParaRPr lang="en-US" sz="2599">
              <a:solidFill>
                <a:srgbClr val="0D2529"/>
              </a:solidFill>
              <a:latin typeface="Poppins"/>
              <a:ea typeface="Poppins"/>
              <a:cs typeface="Poppins"/>
              <a:sym typeface="Poppins"/>
            </a:endParaRPr>
          </a:p>
          <a:p>
            <a:pPr algn="l">
              <a:lnSpc>
                <a:spcPts val="3639"/>
              </a:lnSpc>
            </a:pPr>
            <a:endParaRPr lang="en-US" sz="2599">
              <a:solidFill>
                <a:srgbClr val="0D2529"/>
              </a:solidFill>
              <a:latin typeface="Poppins"/>
              <a:ea typeface="Poppins"/>
              <a:cs typeface="Poppins"/>
              <a:sym typeface="Poppins"/>
            </a:endParaRPr>
          </a:p>
        </p:txBody>
      </p:sp>
      <p:sp>
        <p:nvSpPr>
          <p:cNvPr id="20" name="TextBox 20"/>
          <p:cNvSpPr txBox="1"/>
          <p:nvPr/>
        </p:nvSpPr>
        <p:spPr>
          <a:xfrm>
            <a:off x="2805800" y="5998293"/>
            <a:ext cx="15953284" cy="3689350"/>
          </a:xfrm>
          <a:prstGeom prst="rect">
            <a:avLst/>
          </a:prstGeom>
        </p:spPr>
        <p:txBody>
          <a:bodyPr lIns="0" tIns="0" rIns="0" bIns="0" rtlCol="0" anchor="t">
            <a:spAutoFit/>
          </a:bodyPr>
          <a:lstStyle/>
          <a:p>
            <a:pPr algn="l">
              <a:lnSpc>
                <a:spcPts val="3779"/>
              </a:lnSpc>
            </a:pPr>
            <a:r>
              <a:rPr lang="en-US" sz="2699" b="1">
                <a:solidFill>
                  <a:srgbClr val="0D2529"/>
                </a:solidFill>
                <a:latin typeface="Poppins Bold"/>
                <a:ea typeface="Poppins Bold"/>
                <a:cs typeface="Poppins Bold"/>
                <a:sym typeface="Poppins Bold"/>
              </a:rPr>
              <a:t>How the System Works</a:t>
            </a:r>
          </a:p>
          <a:p>
            <a:pPr algn="l">
              <a:lnSpc>
                <a:spcPts val="3219"/>
              </a:lnSpc>
            </a:pPr>
            <a:r>
              <a:rPr lang="en-US" sz="2299">
                <a:solidFill>
                  <a:srgbClr val="0D2529"/>
                </a:solidFill>
                <a:latin typeface="Poppins"/>
                <a:ea typeface="Poppins"/>
                <a:cs typeface="Poppins"/>
                <a:sym typeface="Poppins"/>
              </a:rPr>
              <a:t>1. Super Admin uses the web application to manage schools and view system reports.</a:t>
            </a:r>
          </a:p>
          <a:p>
            <a:pPr algn="l">
              <a:lnSpc>
                <a:spcPts val="3219"/>
              </a:lnSpc>
            </a:pPr>
            <a:r>
              <a:rPr lang="en-US" sz="2299">
                <a:solidFill>
                  <a:srgbClr val="0D2529"/>
                </a:solidFill>
                <a:latin typeface="Poppins"/>
                <a:ea typeface="Poppins"/>
                <a:cs typeface="Poppins"/>
                <a:sym typeface="Poppins"/>
              </a:rPr>
              <a:t>2. School Admin uses the web application to manage students, teachers, classes, attendance, grades, announcements, and school information.</a:t>
            </a:r>
          </a:p>
          <a:p>
            <a:pPr algn="l">
              <a:lnSpc>
                <a:spcPts val="3219"/>
              </a:lnSpc>
            </a:pPr>
            <a:r>
              <a:rPr lang="en-US" sz="2299">
                <a:solidFill>
                  <a:srgbClr val="0D2529"/>
                </a:solidFill>
                <a:latin typeface="Poppins"/>
                <a:ea typeface="Poppins"/>
                <a:cs typeface="Poppins"/>
                <a:sym typeface="Poppins"/>
              </a:rPr>
              <a:t>3. Teachers access the web application to manage attendance, student grades, classes, and announcements.</a:t>
            </a:r>
          </a:p>
          <a:p>
            <a:pPr algn="l">
              <a:lnSpc>
                <a:spcPts val="3219"/>
              </a:lnSpc>
            </a:pPr>
            <a:r>
              <a:rPr lang="en-US" sz="2299">
                <a:solidFill>
                  <a:srgbClr val="0D2529"/>
                </a:solidFill>
                <a:latin typeface="Poppins"/>
                <a:ea typeface="Poppins"/>
                <a:cs typeface="Poppins"/>
                <a:sym typeface="Poppins"/>
              </a:rPr>
              <a:t>4. Parents use the Flutter mobile application to view their child's attendance, grades, progress, and receive notifications.</a:t>
            </a:r>
          </a:p>
          <a:p>
            <a:pPr algn="l">
              <a:lnSpc>
                <a:spcPts val="3219"/>
              </a:lnSpc>
            </a:pPr>
            <a:endParaRPr lang="en-US" sz="2299">
              <a:solidFill>
                <a:srgbClr val="0D2529"/>
              </a:solidFill>
              <a:latin typeface="Poppins"/>
              <a:ea typeface="Poppins"/>
              <a:cs typeface="Poppins"/>
              <a:sym typeface="Poppin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5187076" y="6797203"/>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2135267" y="-1487931"/>
            <a:ext cx="2975862" cy="2975862"/>
          </a:xfrm>
          <a:custGeom>
            <a:avLst/>
            <a:gdLst/>
            <a:ahLst/>
            <a:cxnLst/>
            <a:rect l="l" t="t" r="r" b="b"/>
            <a:pathLst>
              <a:path w="2975862" h="2975862">
                <a:moveTo>
                  <a:pt x="0" y="0"/>
                </a:moveTo>
                <a:lnTo>
                  <a:pt x="2975861" y="0"/>
                </a:lnTo>
                <a:lnTo>
                  <a:pt x="2975861"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5113113" y="-2618244"/>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99877">
            <a:off x="4793206" y="5589550"/>
            <a:ext cx="787742" cy="787742"/>
          </a:xfrm>
          <a:custGeom>
            <a:avLst/>
            <a:gdLst/>
            <a:ahLst/>
            <a:cxnLst/>
            <a:rect l="l" t="t" r="r" b="b"/>
            <a:pathLst>
              <a:path w="787742" h="787742">
                <a:moveTo>
                  <a:pt x="0" y="0"/>
                </a:moveTo>
                <a:lnTo>
                  <a:pt x="787741" y="0"/>
                </a:lnTo>
                <a:lnTo>
                  <a:pt x="787741" y="787742"/>
                </a:lnTo>
                <a:lnTo>
                  <a:pt x="0" y="78774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rot="-10800000">
            <a:off x="14316205" y="6161818"/>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9" name="Freeform 9"/>
          <p:cNvSpPr/>
          <p:nvPr/>
        </p:nvSpPr>
        <p:spPr>
          <a:xfrm rot="-10800000">
            <a:off x="6178851" y="4780988"/>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0" name="Freeform 10"/>
          <p:cNvSpPr/>
          <p:nvPr/>
        </p:nvSpPr>
        <p:spPr>
          <a:xfrm rot="-10800000">
            <a:off x="5808533" y="1819540"/>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1" name="Freeform 11"/>
          <p:cNvSpPr/>
          <p:nvPr/>
        </p:nvSpPr>
        <p:spPr>
          <a:xfrm>
            <a:off x="13009325" y="2046290"/>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grpSp>
        <p:nvGrpSpPr>
          <p:cNvPr id="12" name="Group 12"/>
          <p:cNvGrpSpPr/>
          <p:nvPr/>
        </p:nvGrpSpPr>
        <p:grpSpPr>
          <a:xfrm>
            <a:off x="6925331" y="6901978"/>
            <a:ext cx="246946" cy="246946"/>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14" name="TextBox 14"/>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5" name="Group 15"/>
          <p:cNvGrpSpPr/>
          <p:nvPr/>
        </p:nvGrpSpPr>
        <p:grpSpPr>
          <a:xfrm>
            <a:off x="6801859" y="2971328"/>
            <a:ext cx="246946" cy="246946"/>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17" name="TextBox 17"/>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18" name="AutoShape 18"/>
          <p:cNvSpPr/>
          <p:nvPr/>
        </p:nvSpPr>
        <p:spPr>
          <a:xfrm flipV="1">
            <a:off x="6949259" y="2079628"/>
            <a:ext cx="4673972" cy="0"/>
          </a:xfrm>
          <a:prstGeom prst="line">
            <a:avLst/>
          </a:prstGeom>
          <a:ln w="66675" cap="rnd">
            <a:solidFill>
              <a:srgbClr val="0D2529"/>
            </a:solidFill>
            <a:prstDash val="solid"/>
            <a:headEnd type="none" w="sm" len="sm"/>
            <a:tailEnd type="none" w="sm" len="sm"/>
          </a:ln>
        </p:spPr>
      </p:sp>
      <p:sp>
        <p:nvSpPr>
          <p:cNvPr id="19" name="Freeform 19"/>
          <p:cNvSpPr/>
          <p:nvPr/>
        </p:nvSpPr>
        <p:spPr>
          <a:xfrm>
            <a:off x="467967" y="2366731"/>
            <a:ext cx="4232237" cy="7590173"/>
          </a:xfrm>
          <a:custGeom>
            <a:avLst/>
            <a:gdLst/>
            <a:ahLst/>
            <a:cxnLst/>
            <a:rect l="l" t="t" r="r" b="b"/>
            <a:pathLst>
              <a:path w="4232237" h="7590173">
                <a:moveTo>
                  <a:pt x="0" y="0"/>
                </a:moveTo>
                <a:lnTo>
                  <a:pt x="4232237" y="0"/>
                </a:lnTo>
                <a:lnTo>
                  <a:pt x="4232237" y="7590174"/>
                </a:lnTo>
                <a:lnTo>
                  <a:pt x="0" y="7590174"/>
                </a:lnTo>
                <a:lnTo>
                  <a:pt x="0" y="0"/>
                </a:lnTo>
                <a:close/>
              </a:path>
            </a:pathLst>
          </a:custGeom>
          <a:blipFill>
            <a:blip r:embed="rId10"/>
            <a:stretch>
              <a:fillRect/>
            </a:stretch>
          </a:blipFill>
        </p:spPr>
      </p:sp>
      <p:sp>
        <p:nvSpPr>
          <p:cNvPr id="20" name="TextBox 20"/>
          <p:cNvSpPr txBox="1"/>
          <p:nvPr/>
        </p:nvSpPr>
        <p:spPr>
          <a:xfrm>
            <a:off x="7048804" y="1432072"/>
            <a:ext cx="7836138" cy="635002"/>
          </a:xfrm>
          <a:prstGeom prst="rect">
            <a:avLst/>
          </a:prstGeom>
        </p:spPr>
        <p:txBody>
          <a:bodyPr lIns="0" tIns="0" rIns="0" bIns="0" rtlCol="0" anchor="t">
            <a:spAutoFit/>
          </a:bodyPr>
          <a:lstStyle/>
          <a:p>
            <a:pPr algn="l">
              <a:lnSpc>
                <a:spcPts val="4000"/>
              </a:lnSpc>
            </a:pPr>
            <a:r>
              <a:rPr lang="en-US" sz="4000" spc="-220">
                <a:solidFill>
                  <a:srgbClr val="0D2529"/>
                </a:solidFill>
                <a:latin typeface="Heading Now 71-78"/>
                <a:ea typeface="Heading Now 71-78"/>
                <a:cs typeface="Heading Now 71-78"/>
                <a:sym typeface="Heading Now 71-78"/>
              </a:rPr>
              <a:t>Use Case diagram</a:t>
            </a:r>
          </a:p>
        </p:txBody>
      </p:sp>
      <p:sp>
        <p:nvSpPr>
          <p:cNvPr id="21" name="TextBox 21"/>
          <p:cNvSpPr txBox="1"/>
          <p:nvPr/>
        </p:nvSpPr>
        <p:spPr>
          <a:xfrm>
            <a:off x="467967" y="477646"/>
            <a:ext cx="6381986" cy="1010285"/>
          </a:xfrm>
          <a:prstGeom prst="rect">
            <a:avLst/>
          </a:prstGeom>
        </p:spPr>
        <p:txBody>
          <a:bodyPr lIns="0" tIns="0" rIns="0" bIns="0" rtlCol="0" anchor="t">
            <a:spAutoFit/>
          </a:bodyPr>
          <a:lstStyle/>
          <a:p>
            <a:pPr algn="l">
              <a:lnSpc>
                <a:spcPts val="6400"/>
              </a:lnSpc>
            </a:pPr>
            <a:r>
              <a:rPr lang="en-US" sz="6400" spc="-352">
                <a:solidFill>
                  <a:srgbClr val="0D2529"/>
                </a:solidFill>
                <a:latin typeface="Heading Now 71-78"/>
                <a:ea typeface="Heading Now 71-78"/>
                <a:cs typeface="Heading Now 71-78"/>
                <a:sym typeface="Heading Now 71-78"/>
              </a:rPr>
              <a:t>UML Diagrams</a:t>
            </a:r>
          </a:p>
        </p:txBody>
      </p:sp>
      <p:sp>
        <p:nvSpPr>
          <p:cNvPr id="22" name="TextBox 22"/>
          <p:cNvSpPr txBox="1"/>
          <p:nvPr/>
        </p:nvSpPr>
        <p:spPr>
          <a:xfrm>
            <a:off x="7244062" y="2923703"/>
            <a:ext cx="10015238" cy="3873500"/>
          </a:xfrm>
          <a:prstGeom prst="rect">
            <a:avLst/>
          </a:prstGeom>
        </p:spPr>
        <p:txBody>
          <a:bodyPr lIns="0" tIns="0" rIns="0" bIns="0" rtlCol="0" anchor="t">
            <a:spAutoFit/>
          </a:bodyPr>
          <a:lstStyle/>
          <a:p>
            <a:pPr marL="0" lvl="0" indent="0" algn="l">
              <a:lnSpc>
                <a:spcPts val="2800"/>
              </a:lnSpc>
            </a:pPr>
            <a:r>
              <a:rPr lang="en-US" sz="2000">
                <a:solidFill>
                  <a:srgbClr val="0D2529"/>
                </a:solidFill>
                <a:latin typeface="TT Firs Neue"/>
                <a:ea typeface="TT Firs Neue"/>
                <a:cs typeface="TT Firs Neue"/>
                <a:sym typeface="TT Firs Neue"/>
              </a:rPr>
              <a:t>The School Parental System is built around four main roles: Super Admin, School Admin, Teachers, and Parents.</a:t>
            </a:r>
          </a:p>
          <a:p>
            <a:pPr marL="431801" lvl="1" indent="-215900" algn="l">
              <a:lnSpc>
                <a:spcPts val="2800"/>
              </a:lnSpc>
              <a:buFont typeface="Arial"/>
              <a:buChar char="•"/>
            </a:pPr>
            <a:r>
              <a:rPr lang="en-US" sz="2000">
                <a:solidFill>
                  <a:srgbClr val="0D2529"/>
                </a:solidFill>
                <a:latin typeface="TT Firs Neue"/>
                <a:ea typeface="TT Firs Neue"/>
                <a:cs typeface="TT Firs Neue"/>
                <a:sym typeface="TT Firs Neue"/>
              </a:rPr>
              <a:t>The Super Admin sets the foundation by registering schools, managing school data, and overseeing all institutions.</a:t>
            </a:r>
          </a:p>
          <a:p>
            <a:pPr marL="431801" lvl="1" indent="-215900" algn="l">
              <a:lnSpc>
                <a:spcPts val="2800"/>
              </a:lnSpc>
              <a:buFont typeface="Arial"/>
              <a:buChar char="•"/>
            </a:pPr>
            <a:r>
              <a:rPr lang="en-US" sz="2000">
                <a:solidFill>
                  <a:srgbClr val="0D2529"/>
                </a:solidFill>
                <a:latin typeface="TT Firs Neue"/>
                <a:ea typeface="TT Firs Neue"/>
                <a:cs typeface="TT Firs Neue"/>
                <a:sym typeface="TT Firs Neue"/>
              </a:rPr>
              <a:t>The School Admin runs daily operations registering students and parents, adding teachers, creating classes, and managing subjects.</a:t>
            </a:r>
          </a:p>
          <a:p>
            <a:pPr marL="431801" lvl="1" indent="-215900" algn="l">
              <a:lnSpc>
                <a:spcPts val="2800"/>
              </a:lnSpc>
              <a:buFont typeface="Arial"/>
              <a:buChar char="•"/>
            </a:pPr>
            <a:r>
              <a:rPr lang="en-US" sz="2000">
                <a:solidFill>
                  <a:srgbClr val="0D2529"/>
                </a:solidFill>
                <a:latin typeface="TT Firs Neue"/>
                <a:ea typeface="TT Firs Neue"/>
                <a:cs typeface="TT Firs Neue"/>
                <a:sym typeface="TT Firs Neue"/>
              </a:rPr>
              <a:t>Teachers handle academics: marking attendance, recording and editing grades, and tracking student progress.</a:t>
            </a:r>
          </a:p>
          <a:p>
            <a:pPr marL="431801" lvl="1" indent="-215900" algn="l">
              <a:lnSpc>
                <a:spcPts val="2800"/>
              </a:lnSpc>
              <a:buFont typeface="Arial"/>
              <a:buChar char="•"/>
            </a:pPr>
            <a:r>
              <a:rPr lang="en-US" sz="2000">
                <a:solidFill>
                  <a:srgbClr val="0D2529"/>
                </a:solidFill>
                <a:latin typeface="TT Firs Neue"/>
                <a:ea typeface="TT Firs Neue"/>
                <a:cs typeface="TT Firs Neue"/>
                <a:sym typeface="TT Firs Neue"/>
              </a:rPr>
              <a:t>Parents stay informed by logging in to view their child’s details, attendance, and grades.</a:t>
            </a:r>
          </a:p>
          <a:p>
            <a:pPr algn="l">
              <a:lnSpc>
                <a:spcPts val="2800"/>
              </a:lnSpc>
            </a:pPr>
            <a:endParaRPr lang="en-US" sz="2000">
              <a:solidFill>
                <a:srgbClr val="0D2529"/>
              </a:solidFill>
              <a:latin typeface="TT Firs Neue"/>
              <a:ea typeface="TT Firs Neue"/>
              <a:cs typeface="TT Firs Neue"/>
              <a:sym typeface="TT Firs Neue"/>
            </a:endParaRPr>
          </a:p>
        </p:txBody>
      </p:sp>
      <p:sp>
        <p:nvSpPr>
          <p:cNvPr id="23" name="TextBox 23"/>
          <p:cNvSpPr txBox="1"/>
          <p:nvPr/>
        </p:nvSpPr>
        <p:spPr>
          <a:xfrm>
            <a:off x="7390209" y="6854353"/>
            <a:ext cx="10305529" cy="2463800"/>
          </a:xfrm>
          <a:prstGeom prst="rect">
            <a:avLst/>
          </a:prstGeom>
        </p:spPr>
        <p:txBody>
          <a:bodyPr lIns="0" tIns="0" rIns="0" bIns="0" rtlCol="0" anchor="t">
            <a:spAutoFit/>
          </a:bodyPr>
          <a:lstStyle/>
          <a:p>
            <a:pPr marL="0" lvl="0" indent="0" algn="l">
              <a:lnSpc>
                <a:spcPts val="2800"/>
              </a:lnSpc>
            </a:pPr>
            <a:r>
              <a:rPr lang="en-US" sz="2000">
                <a:solidFill>
                  <a:srgbClr val="0D2529"/>
                </a:solidFill>
                <a:latin typeface="TT Firs Neue"/>
                <a:ea typeface="TT Firs Neue"/>
                <a:cs typeface="TT Firs Neue"/>
                <a:sym typeface="TT Firs Neue"/>
              </a:rPr>
              <a:t>Communication is supported through announcements  whether school-wide, class-specific, or event-related , ensuring everyone stays connected. The include and extend relationships in the diagram show how smaller tasks, like adding data or viewing grades, support larger processes.</a:t>
            </a:r>
          </a:p>
          <a:p>
            <a:pPr marL="0" lvl="0" indent="0" algn="l">
              <a:lnSpc>
                <a:spcPts val="2800"/>
              </a:lnSpc>
            </a:pPr>
            <a:r>
              <a:rPr lang="en-US" sz="2000">
                <a:solidFill>
                  <a:srgbClr val="0D2529"/>
                </a:solidFill>
                <a:latin typeface="TT Firs Neue"/>
                <a:ea typeface="TT Firs Neue"/>
                <a:cs typeface="TT Firs Neue"/>
                <a:sym typeface="TT Firs Neue"/>
              </a:rPr>
              <a:t>Altogether, the diagram illustrates a clear, organized system where each role contributes to transparency, efficiency, and collaboration in school management</a:t>
            </a:r>
          </a:p>
          <a:p>
            <a:pPr algn="l">
              <a:lnSpc>
                <a:spcPts val="2800"/>
              </a:lnSpc>
            </a:pPr>
            <a:endParaRPr lang="en-US" sz="2000">
              <a:solidFill>
                <a:srgbClr val="0D2529"/>
              </a:solidFill>
              <a:latin typeface="TT Firs Neue"/>
              <a:ea typeface="TT Firs Neue"/>
              <a:cs typeface="TT Firs Neue"/>
              <a:sym typeface="TT Firs Neue"/>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5187076" y="6797203"/>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2135267" y="-1487931"/>
            <a:ext cx="2975862" cy="2975862"/>
          </a:xfrm>
          <a:custGeom>
            <a:avLst/>
            <a:gdLst/>
            <a:ahLst/>
            <a:cxnLst/>
            <a:rect l="l" t="t" r="r" b="b"/>
            <a:pathLst>
              <a:path w="2975862" h="2975862">
                <a:moveTo>
                  <a:pt x="0" y="0"/>
                </a:moveTo>
                <a:lnTo>
                  <a:pt x="2975861" y="0"/>
                </a:lnTo>
                <a:lnTo>
                  <a:pt x="2975861"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5113113" y="-2618244"/>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14316205" y="6161818"/>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6178851" y="4780988"/>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rot="-10800000">
            <a:off x="5808533" y="1819540"/>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10" name="Freeform 10"/>
          <p:cNvSpPr/>
          <p:nvPr/>
        </p:nvSpPr>
        <p:spPr>
          <a:xfrm>
            <a:off x="13009325" y="2046290"/>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Freeform 11"/>
          <p:cNvSpPr/>
          <p:nvPr/>
        </p:nvSpPr>
        <p:spPr>
          <a:xfrm>
            <a:off x="196688" y="3460008"/>
            <a:ext cx="8081348" cy="4708278"/>
          </a:xfrm>
          <a:custGeom>
            <a:avLst/>
            <a:gdLst/>
            <a:ahLst/>
            <a:cxnLst/>
            <a:rect l="l" t="t" r="r" b="b"/>
            <a:pathLst>
              <a:path w="8081348" h="4708278">
                <a:moveTo>
                  <a:pt x="0" y="0"/>
                </a:moveTo>
                <a:lnTo>
                  <a:pt x="8081348" y="0"/>
                </a:lnTo>
                <a:lnTo>
                  <a:pt x="8081348" y="4708278"/>
                </a:lnTo>
                <a:lnTo>
                  <a:pt x="0" y="4708278"/>
                </a:lnTo>
                <a:lnTo>
                  <a:pt x="0" y="0"/>
                </a:lnTo>
                <a:close/>
              </a:path>
            </a:pathLst>
          </a:custGeom>
          <a:blipFill>
            <a:blip r:embed="rId8"/>
            <a:stretch>
              <a:fillRect t="-391"/>
            </a:stretch>
          </a:blipFill>
        </p:spPr>
      </p:sp>
      <p:sp>
        <p:nvSpPr>
          <p:cNvPr id="12" name="Freeform 12"/>
          <p:cNvSpPr/>
          <p:nvPr/>
        </p:nvSpPr>
        <p:spPr>
          <a:xfrm>
            <a:off x="8671003" y="2769263"/>
            <a:ext cx="8999861" cy="6089767"/>
          </a:xfrm>
          <a:custGeom>
            <a:avLst/>
            <a:gdLst/>
            <a:ahLst/>
            <a:cxnLst/>
            <a:rect l="l" t="t" r="r" b="b"/>
            <a:pathLst>
              <a:path w="8999861" h="6089767">
                <a:moveTo>
                  <a:pt x="0" y="0"/>
                </a:moveTo>
                <a:lnTo>
                  <a:pt x="8999860" y="0"/>
                </a:lnTo>
                <a:lnTo>
                  <a:pt x="8999860" y="6089767"/>
                </a:lnTo>
                <a:lnTo>
                  <a:pt x="0" y="6089767"/>
                </a:lnTo>
                <a:lnTo>
                  <a:pt x="0" y="0"/>
                </a:lnTo>
                <a:close/>
              </a:path>
            </a:pathLst>
          </a:custGeom>
          <a:blipFill>
            <a:blip r:embed="rId9"/>
            <a:stretch>
              <a:fillRect/>
            </a:stretch>
          </a:blipFill>
        </p:spPr>
      </p:sp>
      <p:sp>
        <p:nvSpPr>
          <p:cNvPr id="13" name="TextBox 13"/>
          <p:cNvSpPr txBox="1"/>
          <p:nvPr/>
        </p:nvSpPr>
        <p:spPr>
          <a:xfrm>
            <a:off x="467967" y="477646"/>
            <a:ext cx="6381986" cy="1010285"/>
          </a:xfrm>
          <a:prstGeom prst="rect">
            <a:avLst/>
          </a:prstGeom>
        </p:spPr>
        <p:txBody>
          <a:bodyPr lIns="0" tIns="0" rIns="0" bIns="0" rtlCol="0" anchor="t">
            <a:spAutoFit/>
          </a:bodyPr>
          <a:lstStyle/>
          <a:p>
            <a:pPr algn="l">
              <a:lnSpc>
                <a:spcPts val="6400"/>
              </a:lnSpc>
            </a:pPr>
            <a:r>
              <a:rPr lang="en-US" sz="6400" spc="-352">
                <a:solidFill>
                  <a:srgbClr val="0D2529"/>
                </a:solidFill>
                <a:latin typeface="Heading Now 71-78"/>
                <a:ea typeface="Heading Now 71-78"/>
                <a:cs typeface="Heading Now 71-78"/>
                <a:sym typeface="Heading Now 71-78"/>
              </a:rPr>
              <a:t>CONT.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4192396" y="2993329"/>
            <a:ext cx="2975862" cy="2975862"/>
          </a:xfrm>
          <a:custGeom>
            <a:avLst/>
            <a:gdLst/>
            <a:ahLst/>
            <a:cxnLst/>
            <a:rect l="l" t="t" r="r" b="b"/>
            <a:pathLst>
              <a:path w="2975862" h="2975862">
                <a:moveTo>
                  <a:pt x="0" y="0"/>
                </a:moveTo>
                <a:lnTo>
                  <a:pt x="2975861" y="0"/>
                </a:lnTo>
                <a:lnTo>
                  <a:pt x="2975861" y="2975861"/>
                </a:lnTo>
                <a:lnTo>
                  <a:pt x="0" y="2975861"/>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200315" y="-865642"/>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4181503" y="4195858"/>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12228395" y="1410383"/>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17616897" y="4254510"/>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rot="-10800000">
            <a:off x="6260931" y="1288028"/>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10" name="Freeform 10"/>
          <p:cNvSpPr/>
          <p:nvPr/>
        </p:nvSpPr>
        <p:spPr>
          <a:xfrm>
            <a:off x="16104985" y="622289"/>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AutoShape 11"/>
          <p:cNvSpPr/>
          <p:nvPr/>
        </p:nvSpPr>
        <p:spPr>
          <a:xfrm>
            <a:off x="6932033" y="1830545"/>
            <a:ext cx="4673972" cy="0"/>
          </a:xfrm>
          <a:prstGeom prst="line">
            <a:avLst/>
          </a:prstGeom>
          <a:ln w="66675" cap="rnd">
            <a:solidFill>
              <a:srgbClr val="0D2529"/>
            </a:solidFill>
            <a:prstDash val="solid"/>
            <a:headEnd type="none" w="sm" len="sm"/>
            <a:tailEnd type="none" w="sm" len="sm"/>
          </a:ln>
        </p:spPr>
      </p:sp>
      <p:sp>
        <p:nvSpPr>
          <p:cNvPr id="12" name="Freeform 12"/>
          <p:cNvSpPr/>
          <p:nvPr/>
        </p:nvSpPr>
        <p:spPr>
          <a:xfrm>
            <a:off x="323788" y="2467383"/>
            <a:ext cx="8244250" cy="7395785"/>
          </a:xfrm>
          <a:custGeom>
            <a:avLst/>
            <a:gdLst/>
            <a:ahLst/>
            <a:cxnLst/>
            <a:rect l="l" t="t" r="r" b="b"/>
            <a:pathLst>
              <a:path w="8244250" h="7395785">
                <a:moveTo>
                  <a:pt x="0" y="0"/>
                </a:moveTo>
                <a:lnTo>
                  <a:pt x="8244250" y="0"/>
                </a:lnTo>
                <a:lnTo>
                  <a:pt x="8244250" y="7395786"/>
                </a:lnTo>
                <a:lnTo>
                  <a:pt x="0" y="7395786"/>
                </a:lnTo>
                <a:lnTo>
                  <a:pt x="0" y="0"/>
                </a:lnTo>
                <a:close/>
              </a:path>
            </a:pathLst>
          </a:custGeom>
          <a:blipFill>
            <a:blip r:embed="rId8"/>
            <a:stretch>
              <a:fillRect/>
            </a:stretch>
          </a:blipFill>
        </p:spPr>
      </p:sp>
      <p:sp>
        <p:nvSpPr>
          <p:cNvPr id="13" name="Freeform 13"/>
          <p:cNvSpPr/>
          <p:nvPr/>
        </p:nvSpPr>
        <p:spPr>
          <a:xfrm>
            <a:off x="9493635" y="2358357"/>
            <a:ext cx="8123263" cy="7613838"/>
          </a:xfrm>
          <a:custGeom>
            <a:avLst/>
            <a:gdLst/>
            <a:ahLst/>
            <a:cxnLst/>
            <a:rect l="l" t="t" r="r" b="b"/>
            <a:pathLst>
              <a:path w="8123263" h="7613838">
                <a:moveTo>
                  <a:pt x="0" y="0"/>
                </a:moveTo>
                <a:lnTo>
                  <a:pt x="8123262" y="0"/>
                </a:lnTo>
                <a:lnTo>
                  <a:pt x="8123262" y="7613838"/>
                </a:lnTo>
                <a:lnTo>
                  <a:pt x="0" y="7613838"/>
                </a:lnTo>
                <a:lnTo>
                  <a:pt x="0" y="0"/>
                </a:lnTo>
                <a:close/>
              </a:path>
            </a:pathLst>
          </a:custGeom>
          <a:blipFill>
            <a:blip r:embed="rId9"/>
            <a:stretch>
              <a:fillRect/>
            </a:stretch>
          </a:blipFill>
        </p:spPr>
      </p:sp>
      <p:sp>
        <p:nvSpPr>
          <p:cNvPr id="14" name="TextBox 14"/>
          <p:cNvSpPr txBox="1"/>
          <p:nvPr/>
        </p:nvSpPr>
        <p:spPr>
          <a:xfrm>
            <a:off x="323788" y="555711"/>
            <a:ext cx="5205050" cy="1059815"/>
          </a:xfrm>
          <a:prstGeom prst="rect">
            <a:avLst/>
          </a:prstGeom>
        </p:spPr>
        <p:txBody>
          <a:bodyPr lIns="0" tIns="0" rIns="0" bIns="0" rtlCol="0" anchor="t">
            <a:spAutoFit/>
          </a:bodyPr>
          <a:lstStyle/>
          <a:p>
            <a:pPr algn="l">
              <a:lnSpc>
                <a:spcPts val="6820"/>
              </a:lnSpc>
            </a:pPr>
            <a:r>
              <a:rPr lang="en-US" sz="6200" b="1" dirty="0">
                <a:solidFill>
                  <a:srgbClr val="0D2529"/>
                </a:solidFill>
                <a:latin typeface="Agrandir Bold"/>
                <a:ea typeface="Agrandir Bold"/>
                <a:cs typeface="Agrandir Bold"/>
                <a:sym typeface="Agrandir Bold"/>
              </a:rPr>
              <a:t>CONT.</a:t>
            </a:r>
          </a:p>
        </p:txBody>
      </p:sp>
      <p:sp>
        <p:nvSpPr>
          <p:cNvPr id="15" name="TextBox 15"/>
          <p:cNvSpPr txBox="1"/>
          <p:nvPr/>
        </p:nvSpPr>
        <p:spPr>
          <a:xfrm>
            <a:off x="7149599" y="1089711"/>
            <a:ext cx="7836138" cy="635002"/>
          </a:xfrm>
          <a:prstGeom prst="rect">
            <a:avLst/>
          </a:prstGeom>
        </p:spPr>
        <p:txBody>
          <a:bodyPr lIns="0" tIns="0" rIns="0" bIns="0" rtlCol="0" anchor="t">
            <a:spAutoFit/>
          </a:bodyPr>
          <a:lstStyle/>
          <a:p>
            <a:pPr algn="l">
              <a:lnSpc>
                <a:spcPts val="4000"/>
              </a:lnSpc>
            </a:pPr>
            <a:r>
              <a:rPr lang="en-US" sz="4000" spc="-220">
                <a:solidFill>
                  <a:srgbClr val="0D2529"/>
                </a:solidFill>
                <a:latin typeface="Heading Now 71-78"/>
                <a:ea typeface="Heading Now 71-78"/>
                <a:cs typeface="Heading Now 71-78"/>
                <a:sym typeface="Heading Now 71-78"/>
              </a:rPr>
              <a:t>Sequence diagram</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4192396" y="2993329"/>
            <a:ext cx="2975862" cy="2975862"/>
          </a:xfrm>
          <a:custGeom>
            <a:avLst/>
            <a:gdLst/>
            <a:ahLst/>
            <a:cxnLst/>
            <a:rect l="l" t="t" r="r" b="b"/>
            <a:pathLst>
              <a:path w="2975862" h="2975862">
                <a:moveTo>
                  <a:pt x="0" y="0"/>
                </a:moveTo>
                <a:lnTo>
                  <a:pt x="2975861" y="0"/>
                </a:lnTo>
                <a:lnTo>
                  <a:pt x="2975861" y="2975861"/>
                </a:lnTo>
                <a:lnTo>
                  <a:pt x="0" y="2975861"/>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200315" y="-865642"/>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4181503" y="4195858"/>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12228395" y="1410383"/>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17616897" y="4254510"/>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rot="-10800000">
            <a:off x="6260931" y="1288028"/>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10" name="Freeform 10"/>
          <p:cNvSpPr/>
          <p:nvPr/>
        </p:nvSpPr>
        <p:spPr>
          <a:xfrm>
            <a:off x="16104985" y="622289"/>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Freeform 11"/>
          <p:cNvSpPr/>
          <p:nvPr/>
        </p:nvSpPr>
        <p:spPr>
          <a:xfrm>
            <a:off x="760534" y="1741528"/>
            <a:ext cx="5381765" cy="8226621"/>
          </a:xfrm>
          <a:custGeom>
            <a:avLst/>
            <a:gdLst/>
            <a:ahLst/>
            <a:cxnLst/>
            <a:rect l="l" t="t" r="r" b="b"/>
            <a:pathLst>
              <a:path w="5381765" h="8226621">
                <a:moveTo>
                  <a:pt x="0" y="0"/>
                </a:moveTo>
                <a:lnTo>
                  <a:pt x="5381765" y="0"/>
                </a:lnTo>
                <a:lnTo>
                  <a:pt x="5381765" y="8226621"/>
                </a:lnTo>
                <a:lnTo>
                  <a:pt x="0" y="8226621"/>
                </a:lnTo>
                <a:lnTo>
                  <a:pt x="0" y="0"/>
                </a:lnTo>
                <a:close/>
              </a:path>
            </a:pathLst>
          </a:custGeom>
          <a:blipFill>
            <a:blip r:embed="rId8"/>
            <a:stretch>
              <a:fillRect/>
            </a:stretch>
          </a:blipFill>
        </p:spPr>
      </p:sp>
      <p:sp>
        <p:nvSpPr>
          <p:cNvPr id="12" name="TextBox 12"/>
          <p:cNvSpPr txBox="1"/>
          <p:nvPr/>
        </p:nvSpPr>
        <p:spPr>
          <a:xfrm>
            <a:off x="200315" y="350568"/>
            <a:ext cx="5205050" cy="1059815"/>
          </a:xfrm>
          <a:prstGeom prst="rect">
            <a:avLst/>
          </a:prstGeom>
        </p:spPr>
        <p:txBody>
          <a:bodyPr lIns="0" tIns="0" rIns="0" bIns="0" rtlCol="0" anchor="t">
            <a:spAutoFit/>
          </a:bodyPr>
          <a:lstStyle/>
          <a:p>
            <a:pPr algn="l">
              <a:lnSpc>
                <a:spcPts val="6820"/>
              </a:lnSpc>
            </a:pPr>
            <a:r>
              <a:rPr lang="en-US" sz="6200" b="1">
                <a:solidFill>
                  <a:srgbClr val="0D2529"/>
                </a:solidFill>
                <a:latin typeface="Agrandir Bold"/>
                <a:ea typeface="Agrandir Bold"/>
                <a:cs typeface="Agrandir Bold"/>
                <a:sym typeface="Agrandir Bold"/>
              </a:rPr>
              <a:t>CONT.</a:t>
            </a:r>
          </a:p>
        </p:txBody>
      </p:sp>
      <p:sp>
        <p:nvSpPr>
          <p:cNvPr id="13" name="TextBox 13"/>
          <p:cNvSpPr txBox="1"/>
          <p:nvPr/>
        </p:nvSpPr>
        <p:spPr>
          <a:xfrm>
            <a:off x="6487274" y="2758814"/>
            <a:ext cx="11299229" cy="6818947"/>
          </a:xfrm>
          <a:prstGeom prst="rect">
            <a:avLst/>
          </a:prstGeom>
        </p:spPr>
        <p:txBody>
          <a:bodyPr lIns="0" tIns="0" rIns="0" bIns="0" rtlCol="0" anchor="t">
            <a:spAutoFit/>
          </a:bodyPr>
          <a:lstStyle/>
          <a:p>
            <a:pPr marL="0" lvl="0" indent="0" algn="l">
              <a:lnSpc>
                <a:spcPts val="3602"/>
              </a:lnSpc>
            </a:pPr>
            <a:r>
              <a:rPr lang="en-US" sz="2572">
                <a:solidFill>
                  <a:srgbClr val="0D2529"/>
                </a:solidFill>
                <a:latin typeface="TT Firs Neue"/>
                <a:ea typeface="TT Firs Neue"/>
                <a:cs typeface="TT Firs Neue"/>
                <a:sym typeface="TT Firs Neue"/>
              </a:rPr>
              <a:t>The sequence diagram outlines a secure platform where all users first log in to receive a verified authentication token. </a:t>
            </a:r>
          </a:p>
          <a:p>
            <a:pPr marL="0" lvl="0" indent="0" algn="l">
              <a:lnSpc>
                <a:spcPts val="3602"/>
              </a:lnSpc>
            </a:pPr>
            <a:r>
              <a:rPr lang="en-US" sz="2572">
                <a:solidFill>
                  <a:srgbClr val="0D2529"/>
                </a:solidFill>
                <a:latin typeface="TT Firs Neue"/>
                <a:ea typeface="TT Firs Neue"/>
                <a:cs typeface="TT Firs Neue"/>
                <a:sym typeface="TT Firs Neue"/>
              </a:rPr>
              <a:t>Once inside, Parents track their child’s grades and acknowledge school updates, while Teachers access assigned classes to record marks and attendance. </a:t>
            </a:r>
          </a:p>
          <a:p>
            <a:pPr marL="0" lvl="0" indent="0" algn="l">
              <a:lnSpc>
                <a:spcPts val="3602"/>
              </a:lnSpc>
            </a:pPr>
            <a:endParaRPr lang="en-US" sz="2572">
              <a:solidFill>
                <a:srgbClr val="0D2529"/>
              </a:solidFill>
              <a:latin typeface="TT Firs Neue"/>
              <a:ea typeface="TT Firs Neue"/>
              <a:cs typeface="TT Firs Neue"/>
              <a:sym typeface="TT Firs Neue"/>
            </a:endParaRPr>
          </a:p>
          <a:p>
            <a:pPr marL="0" lvl="0" indent="0" algn="l">
              <a:lnSpc>
                <a:spcPts val="3602"/>
              </a:lnSpc>
            </a:pPr>
            <a:r>
              <a:rPr lang="en-US" sz="2572">
                <a:solidFill>
                  <a:srgbClr val="0D2529"/>
                </a:solidFill>
                <a:latin typeface="TT Firs Neue"/>
                <a:ea typeface="TT Firs Neue"/>
                <a:cs typeface="TT Firs Neue"/>
                <a:sym typeface="TT Firs Neue"/>
              </a:rPr>
              <a:t>School Admins manage their specific school by adding users and organizing classes, and Super Admins oversee the entire system by managing multiple schools and global analytics. </a:t>
            </a:r>
          </a:p>
          <a:p>
            <a:pPr marL="0" lvl="0" indent="0" algn="l">
              <a:lnSpc>
                <a:spcPts val="3602"/>
              </a:lnSpc>
            </a:pPr>
            <a:endParaRPr lang="en-US" sz="2572">
              <a:solidFill>
                <a:srgbClr val="0D2529"/>
              </a:solidFill>
              <a:latin typeface="TT Firs Neue"/>
              <a:ea typeface="TT Firs Neue"/>
              <a:cs typeface="TT Firs Neue"/>
              <a:sym typeface="TT Firs Neue"/>
            </a:endParaRPr>
          </a:p>
          <a:p>
            <a:pPr algn="l">
              <a:lnSpc>
                <a:spcPts val="3602"/>
              </a:lnSpc>
            </a:pPr>
            <a:r>
              <a:rPr lang="en-US" sz="2572">
                <a:solidFill>
                  <a:srgbClr val="0D2529"/>
                </a:solidFill>
                <a:latin typeface="TT Firs Neue"/>
                <a:ea typeface="TT Firs Neue"/>
                <a:cs typeface="TT Firs Neue"/>
                <a:sym typeface="TT Firs Neue"/>
              </a:rPr>
              <a:t>To keep all this information safe, the database uses Row-Level Security (RLS), a built-in shield that checks the user's token during every request and automatically blocks them from seeing unauthorized data, guaranteeing that parents only see their own child's records and staff only access their assigned information.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5312138" y="4332850"/>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459231" y="198979"/>
            <a:ext cx="2975862" cy="2975862"/>
          </a:xfrm>
          <a:custGeom>
            <a:avLst/>
            <a:gdLst/>
            <a:ahLst/>
            <a:cxnLst/>
            <a:rect l="l" t="t" r="r" b="b"/>
            <a:pathLst>
              <a:path w="2975862" h="2975862">
                <a:moveTo>
                  <a:pt x="0" y="0"/>
                </a:moveTo>
                <a:lnTo>
                  <a:pt x="2975862" y="0"/>
                </a:lnTo>
                <a:lnTo>
                  <a:pt x="2975862" y="2975861"/>
                </a:lnTo>
                <a:lnTo>
                  <a:pt x="0" y="2975861"/>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10800000">
            <a:off x="838870" y="2752142"/>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7363547" y="9258300"/>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4301434" y="1354263"/>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rot="-10800000">
            <a:off x="17469358" y="2948091"/>
            <a:ext cx="671103" cy="453500"/>
          </a:xfrm>
          <a:custGeom>
            <a:avLst/>
            <a:gdLst/>
            <a:ahLst/>
            <a:cxnLst/>
            <a:rect l="l" t="t" r="r" b="b"/>
            <a:pathLst>
              <a:path w="671103" h="453500">
                <a:moveTo>
                  <a:pt x="0" y="0"/>
                </a:moveTo>
                <a:lnTo>
                  <a:pt x="671103" y="0"/>
                </a:lnTo>
                <a:lnTo>
                  <a:pt x="671103" y="453499"/>
                </a:lnTo>
                <a:lnTo>
                  <a:pt x="0" y="453499"/>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10" name="Freeform 10"/>
          <p:cNvSpPr/>
          <p:nvPr/>
        </p:nvSpPr>
        <p:spPr>
          <a:xfrm>
            <a:off x="15794442" y="8897840"/>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Freeform 11"/>
          <p:cNvSpPr/>
          <p:nvPr/>
        </p:nvSpPr>
        <p:spPr>
          <a:xfrm>
            <a:off x="117951" y="4541313"/>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4" name="TextBox 14"/>
          <p:cNvSpPr txBox="1"/>
          <p:nvPr/>
        </p:nvSpPr>
        <p:spPr>
          <a:xfrm>
            <a:off x="5266672" y="286193"/>
            <a:ext cx="8120631" cy="1068070"/>
          </a:xfrm>
          <a:prstGeom prst="rect">
            <a:avLst/>
          </a:prstGeom>
        </p:spPr>
        <p:txBody>
          <a:bodyPr lIns="0" tIns="0" rIns="0" bIns="0" rtlCol="0" anchor="t">
            <a:spAutoFit/>
          </a:bodyPr>
          <a:lstStyle/>
          <a:p>
            <a:pPr algn="l">
              <a:lnSpc>
                <a:spcPts val="6800"/>
              </a:lnSpc>
            </a:pPr>
            <a:r>
              <a:rPr lang="en-US" sz="6800" spc="-374">
                <a:solidFill>
                  <a:srgbClr val="0D2529"/>
                </a:solidFill>
                <a:latin typeface="Heading Now 71-78"/>
                <a:ea typeface="Heading Now 71-78"/>
                <a:cs typeface="Heading Now 71-78"/>
                <a:sym typeface="Heading Now 71-78"/>
              </a:rPr>
              <a:t>Data Base Design</a:t>
            </a:r>
          </a:p>
        </p:txBody>
      </p:sp>
      <p:pic>
        <p:nvPicPr>
          <p:cNvPr id="16" name="Picture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867" y="1423936"/>
            <a:ext cx="10058400" cy="8793690"/>
          </a:xfrm>
          <a:prstGeom prst="rect">
            <a:avLst/>
          </a:prstGeom>
        </p:spPr>
      </p:pic>
      <p:sp>
        <p:nvSpPr>
          <p:cNvPr id="17" name="Rectangle 16"/>
          <p:cNvSpPr/>
          <p:nvPr/>
        </p:nvSpPr>
        <p:spPr>
          <a:xfrm>
            <a:off x="10356375" y="2019300"/>
            <a:ext cx="7334752" cy="6850593"/>
          </a:xfrm>
          <a:prstGeom prst="rect">
            <a:avLst/>
          </a:prstGeom>
        </p:spPr>
        <p:txBody>
          <a:bodyPr wrap="square">
            <a:spAutoFit/>
          </a:bodyPr>
          <a:lstStyle/>
          <a:p>
            <a:pPr lvl="0">
              <a:lnSpc>
                <a:spcPts val="3079"/>
              </a:lnSpc>
            </a:pPr>
            <a:r>
              <a:rPr lang="en-US" sz="2199" dirty="0">
                <a:solidFill>
                  <a:srgbClr val="0D2529"/>
                </a:solidFill>
                <a:latin typeface="Poppins"/>
                <a:ea typeface="Poppins"/>
                <a:cs typeface="Poppins"/>
                <a:sym typeface="Poppins"/>
              </a:rPr>
              <a:t>The main entities are Users, School, Roles, Learner, Parent, Teacher, Class, Subject, Grade, Attendance, Announcement, </a:t>
            </a:r>
            <a:r>
              <a:rPr lang="en-US" sz="2199" dirty="0" err="1">
                <a:solidFill>
                  <a:srgbClr val="0D2529"/>
                </a:solidFill>
                <a:latin typeface="Poppins"/>
                <a:ea typeface="Poppins"/>
                <a:cs typeface="Poppins"/>
                <a:sym typeface="Poppins"/>
              </a:rPr>
              <a:t>Announcement_reciplents</a:t>
            </a:r>
            <a:r>
              <a:rPr lang="en-US" sz="2199" dirty="0">
                <a:solidFill>
                  <a:srgbClr val="0D2529"/>
                </a:solidFill>
                <a:latin typeface="Poppins"/>
                <a:ea typeface="Poppins"/>
                <a:cs typeface="Poppins"/>
                <a:sym typeface="Poppins"/>
              </a:rPr>
              <a:t>, Notifications, Events, Timetable, </a:t>
            </a:r>
            <a:r>
              <a:rPr lang="en-US" sz="2199" dirty="0" err="1">
                <a:solidFill>
                  <a:srgbClr val="0D2529"/>
                </a:solidFill>
                <a:latin typeface="Poppins"/>
                <a:ea typeface="Poppins"/>
                <a:cs typeface="Poppins"/>
                <a:sym typeface="Poppins"/>
              </a:rPr>
              <a:t>Enrollement</a:t>
            </a:r>
            <a:r>
              <a:rPr lang="en-US" sz="2199" dirty="0">
                <a:solidFill>
                  <a:srgbClr val="0D2529"/>
                </a:solidFill>
                <a:latin typeface="Poppins"/>
                <a:ea typeface="Poppins"/>
                <a:cs typeface="Poppins"/>
                <a:sym typeface="Poppins"/>
              </a:rPr>
              <a:t> . Each entity represents a specific part of the school system. For example, the Learner entity stores learner information, Teacher stores teacher information, Class manages classes, Subject manages subjects, and Grade records academic performance.</a:t>
            </a:r>
          </a:p>
          <a:p>
            <a:pPr lvl="0">
              <a:lnSpc>
                <a:spcPts val="3079"/>
              </a:lnSpc>
            </a:pPr>
            <a:endParaRPr lang="en-US" sz="2199" dirty="0">
              <a:solidFill>
                <a:srgbClr val="0D2529"/>
              </a:solidFill>
              <a:latin typeface="Poppins"/>
              <a:ea typeface="Poppins"/>
              <a:cs typeface="Poppins"/>
              <a:sym typeface="Poppins"/>
            </a:endParaRPr>
          </a:p>
          <a:p>
            <a:pPr lvl="0">
              <a:lnSpc>
                <a:spcPts val="3079"/>
              </a:lnSpc>
            </a:pPr>
            <a:r>
              <a:rPr lang="en-US" sz="2199" dirty="0">
                <a:solidFill>
                  <a:srgbClr val="0D2529"/>
                </a:solidFill>
                <a:latin typeface="Poppins"/>
                <a:ea typeface="Poppins"/>
                <a:cs typeface="Poppins"/>
                <a:sym typeface="Poppins"/>
              </a:rPr>
              <a:t>Each table has a primary key, such as </a:t>
            </a:r>
            <a:r>
              <a:rPr lang="en-US" sz="2199" dirty="0" err="1">
                <a:solidFill>
                  <a:srgbClr val="0D2529"/>
                </a:solidFill>
                <a:latin typeface="Poppins"/>
                <a:ea typeface="Poppins"/>
                <a:cs typeface="Poppins"/>
                <a:sym typeface="Poppins"/>
              </a:rPr>
              <a:t>learner_id</a:t>
            </a:r>
            <a:r>
              <a:rPr lang="en-US" sz="2199" dirty="0">
                <a:solidFill>
                  <a:srgbClr val="0D2529"/>
                </a:solidFill>
                <a:latin typeface="Poppins"/>
                <a:ea typeface="Poppins"/>
                <a:cs typeface="Poppins"/>
                <a:sym typeface="Poppins"/>
              </a:rPr>
              <a:t> or </a:t>
            </a:r>
            <a:r>
              <a:rPr lang="en-US" sz="2199" dirty="0" err="1">
                <a:solidFill>
                  <a:srgbClr val="0D2529"/>
                </a:solidFill>
                <a:latin typeface="Poppins"/>
                <a:ea typeface="Poppins"/>
                <a:cs typeface="Poppins"/>
                <a:sym typeface="Poppins"/>
              </a:rPr>
              <a:t>school_id</a:t>
            </a:r>
            <a:r>
              <a:rPr lang="en-US" sz="2199" dirty="0">
                <a:solidFill>
                  <a:srgbClr val="0D2529"/>
                </a:solidFill>
                <a:latin typeface="Poppins"/>
                <a:ea typeface="Poppins"/>
                <a:cs typeface="Poppins"/>
                <a:sym typeface="Poppins"/>
              </a:rPr>
              <a:t>, which uniquely identifies each record. Foreign keys such as </a:t>
            </a:r>
            <a:r>
              <a:rPr lang="en-US" sz="2199" dirty="0" err="1">
                <a:solidFill>
                  <a:srgbClr val="0D2529"/>
                </a:solidFill>
                <a:latin typeface="Poppins"/>
                <a:ea typeface="Poppins"/>
                <a:cs typeface="Poppins"/>
                <a:sym typeface="Poppins"/>
              </a:rPr>
              <a:t>school_id</a:t>
            </a:r>
            <a:r>
              <a:rPr lang="en-US" sz="2199" dirty="0">
                <a:solidFill>
                  <a:srgbClr val="0D2529"/>
                </a:solidFill>
                <a:latin typeface="Poppins"/>
                <a:ea typeface="Poppins"/>
                <a:cs typeface="Poppins"/>
                <a:sym typeface="Poppins"/>
              </a:rPr>
              <a:t>, </a:t>
            </a:r>
            <a:r>
              <a:rPr lang="en-US" sz="2199" dirty="0" err="1">
                <a:solidFill>
                  <a:srgbClr val="0D2529"/>
                </a:solidFill>
                <a:latin typeface="Poppins"/>
                <a:ea typeface="Poppins"/>
                <a:cs typeface="Poppins"/>
                <a:sym typeface="Poppins"/>
              </a:rPr>
              <a:t>learner_id</a:t>
            </a:r>
            <a:r>
              <a:rPr lang="en-US" sz="2199" dirty="0">
                <a:solidFill>
                  <a:srgbClr val="0D2529"/>
                </a:solidFill>
                <a:latin typeface="Poppins"/>
                <a:ea typeface="Poppins"/>
                <a:cs typeface="Poppins"/>
                <a:sym typeface="Poppins"/>
              </a:rPr>
              <a:t>, and </a:t>
            </a:r>
            <a:r>
              <a:rPr lang="en-US" sz="2199" dirty="0" err="1">
                <a:solidFill>
                  <a:srgbClr val="0D2529"/>
                </a:solidFill>
                <a:latin typeface="Poppins"/>
                <a:ea typeface="Poppins"/>
                <a:cs typeface="Poppins"/>
                <a:sym typeface="Poppins"/>
              </a:rPr>
              <a:t>class_id</a:t>
            </a:r>
            <a:r>
              <a:rPr lang="en-US" sz="2199" dirty="0">
                <a:solidFill>
                  <a:srgbClr val="0D2529"/>
                </a:solidFill>
                <a:latin typeface="Poppins"/>
                <a:ea typeface="Poppins"/>
                <a:cs typeface="Poppins"/>
                <a:sym typeface="Poppins"/>
              </a:rPr>
              <a:t> create relationships between the tables and help maintain data integrity.</a:t>
            </a:r>
          </a:p>
          <a:p>
            <a:pPr lvl="0">
              <a:lnSpc>
                <a:spcPts val="3079"/>
              </a:lnSpc>
            </a:pPr>
            <a:endParaRPr lang="en-US" sz="2199" dirty="0">
              <a:solidFill>
                <a:srgbClr val="0D2529"/>
              </a:solidFill>
              <a:latin typeface="Poppins"/>
              <a:ea typeface="Poppins"/>
              <a:cs typeface="Poppins"/>
              <a:sym typeface="Poppin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623916" y="0"/>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6341364" y="5193287"/>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729246" y="6100744"/>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6271347" y="6728824"/>
            <a:ext cx="671103" cy="453500"/>
          </a:xfrm>
          <a:custGeom>
            <a:avLst/>
            <a:gdLst/>
            <a:ahLst/>
            <a:cxnLst/>
            <a:rect l="l" t="t" r="r" b="b"/>
            <a:pathLst>
              <a:path w="671103" h="453500">
                <a:moveTo>
                  <a:pt x="0" y="0"/>
                </a:moveTo>
                <a:lnTo>
                  <a:pt x="671103" y="0"/>
                </a:lnTo>
                <a:lnTo>
                  <a:pt x="671103"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6762752" y="1319338"/>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rot="-10800000">
            <a:off x="11878074" y="1319338"/>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10" name="Freeform 10"/>
          <p:cNvSpPr/>
          <p:nvPr/>
        </p:nvSpPr>
        <p:spPr>
          <a:xfrm>
            <a:off x="2336004" y="9485050"/>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Freeform 11"/>
          <p:cNvSpPr/>
          <p:nvPr/>
        </p:nvSpPr>
        <p:spPr>
          <a:xfrm>
            <a:off x="17259300" y="2260028"/>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2" name="TextBox 12"/>
          <p:cNvSpPr txBox="1"/>
          <p:nvPr/>
        </p:nvSpPr>
        <p:spPr>
          <a:xfrm>
            <a:off x="435224" y="714501"/>
            <a:ext cx="4458368" cy="1171575"/>
          </a:xfrm>
          <a:prstGeom prst="rect">
            <a:avLst/>
          </a:prstGeom>
        </p:spPr>
        <p:txBody>
          <a:bodyPr lIns="0" tIns="0" rIns="0" bIns="0" rtlCol="0" anchor="t">
            <a:spAutoFit/>
          </a:bodyPr>
          <a:lstStyle/>
          <a:p>
            <a:pPr algn="l">
              <a:lnSpc>
                <a:spcPts val="7499"/>
              </a:lnSpc>
            </a:pPr>
            <a:r>
              <a:rPr lang="en-US" sz="7499" spc="-412">
                <a:solidFill>
                  <a:srgbClr val="0D2529"/>
                </a:solidFill>
                <a:latin typeface="Heading Now 71-78"/>
                <a:ea typeface="Heading Now 71-78"/>
                <a:cs typeface="Heading Now 71-78"/>
                <a:sym typeface="Heading Now 71-78"/>
              </a:rPr>
              <a:t>CONT.</a:t>
            </a:r>
          </a:p>
        </p:txBody>
      </p:sp>
      <p:sp>
        <p:nvSpPr>
          <p:cNvPr id="14" name="TextBox 14"/>
          <p:cNvSpPr txBox="1"/>
          <p:nvPr/>
        </p:nvSpPr>
        <p:spPr>
          <a:xfrm>
            <a:off x="739151" y="1170739"/>
            <a:ext cx="16898826" cy="6514604"/>
          </a:xfrm>
          <a:prstGeom prst="rect">
            <a:avLst/>
          </a:prstGeom>
        </p:spPr>
        <p:txBody>
          <a:bodyPr lIns="0" tIns="0" rIns="0" bIns="0" rtlCol="0" anchor="t">
            <a:spAutoFit/>
          </a:bodyPr>
          <a:lstStyle/>
          <a:p>
            <a:pPr algn="l">
              <a:lnSpc>
                <a:spcPts val="3725"/>
              </a:lnSpc>
            </a:pPr>
            <a:endParaRPr dirty="0"/>
          </a:p>
          <a:p>
            <a:pPr algn="l">
              <a:lnSpc>
                <a:spcPts val="3152"/>
              </a:lnSpc>
            </a:pPr>
            <a:endParaRPr dirty="0"/>
          </a:p>
          <a:p>
            <a:pPr algn="l">
              <a:lnSpc>
                <a:spcPts val="3152"/>
              </a:lnSpc>
            </a:pPr>
            <a:endParaRPr dirty="0"/>
          </a:p>
          <a:p>
            <a:pPr algn="l">
              <a:lnSpc>
                <a:spcPts val="3152"/>
              </a:lnSpc>
            </a:pPr>
            <a:endParaRPr dirty="0"/>
          </a:p>
          <a:p>
            <a:pPr lvl="0">
              <a:lnSpc>
                <a:spcPts val="3079"/>
              </a:lnSpc>
            </a:pPr>
            <a:r>
              <a:rPr lang="en-US" sz="2400" dirty="0">
                <a:solidFill>
                  <a:srgbClr val="0D2529"/>
                </a:solidFill>
                <a:latin typeface="Poppins"/>
                <a:ea typeface="Poppins"/>
                <a:cs typeface="Poppins"/>
                <a:sym typeface="Poppins"/>
              </a:rPr>
              <a:t>The ERD also follows normalization principles by separating different types of information into different entities. This reduces duplication and makes the database easier to maintain.</a:t>
            </a:r>
          </a:p>
          <a:p>
            <a:pPr lvl="0">
              <a:lnSpc>
                <a:spcPts val="3079"/>
              </a:lnSpc>
            </a:pPr>
            <a:endParaRPr lang="en-US" sz="2400" dirty="0">
              <a:solidFill>
                <a:srgbClr val="0D2529"/>
              </a:solidFill>
              <a:latin typeface="Poppins"/>
              <a:ea typeface="Poppins"/>
              <a:cs typeface="Poppins"/>
              <a:sym typeface="Poppins"/>
            </a:endParaRPr>
          </a:p>
          <a:p>
            <a:pPr lvl="0">
              <a:lnSpc>
                <a:spcPts val="3079"/>
              </a:lnSpc>
            </a:pPr>
            <a:r>
              <a:rPr lang="en-US" sz="2400" dirty="0">
                <a:solidFill>
                  <a:srgbClr val="0D2529"/>
                </a:solidFill>
                <a:latin typeface="Poppins"/>
                <a:ea typeface="Poppins"/>
                <a:cs typeface="Poppins"/>
                <a:sym typeface="Poppins"/>
              </a:rPr>
              <a:t>For security, passwords should be hashed and not stored as plain text. Some possible improvements are adding a table to clearly connect teachers with subjects and allowing a learner to have multiple parents or guardians.</a:t>
            </a:r>
          </a:p>
          <a:p>
            <a:pPr lvl="0">
              <a:lnSpc>
                <a:spcPts val="3079"/>
              </a:lnSpc>
            </a:pPr>
            <a:endParaRPr lang="en-US" sz="2400" dirty="0">
              <a:solidFill>
                <a:srgbClr val="0D2529"/>
              </a:solidFill>
              <a:latin typeface="Poppins"/>
              <a:ea typeface="Poppins"/>
              <a:cs typeface="Poppins"/>
              <a:sym typeface="Poppins"/>
            </a:endParaRPr>
          </a:p>
          <a:p>
            <a:pPr lvl="0">
              <a:lnSpc>
                <a:spcPts val="3079"/>
              </a:lnSpc>
            </a:pPr>
            <a:r>
              <a:rPr lang="en-US" sz="2400" dirty="0">
                <a:solidFill>
                  <a:srgbClr val="0D2529"/>
                </a:solidFill>
                <a:latin typeface="Poppins"/>
                <a:ea typeface="Poppins"/>
                <a:cs typeface="Poppins"/>
                <a:sym typeface="Poppins"/>
              </a:rPr>
              <a:t>In conclusion, this ERD provides a structured database for managing the main academic, administrative, attendance, and communication activities of a school.</a:t>
            </a:r>
          </a:p>
          <a:p>
            <a:pPr algn="l">
              <a:lnSpc>
                <a:spcPts val="3152"/>
              </a:lnSpc>
            </a:pPr>
            <a:r>
              <a:rPr lang="en-US" sz="2251" dirty="0" smtClean="0">
                <a:solidFill>
                  <a:srgbClr val="0D2529"/>
                </a:solidFill>
                <a:latin typeface="Poppins"/>
                <a:ea typeface="Poppins"/>
                <a:cs typeface="Poppins"/>
                <a:sym typeface="Poppins"/>
              </a:rPr>
              <a:t>.</a:t>
            </a:r>
            <a:endParaRPr lang="en-US" sz="2251" dirty="0">
              <a:solidFill>
                <a:srgbClr val="0D2529"/>
              </a:solidFill>
              <a:latin typeface="Poppins"/>
              <a:ea typeface="Poppins"/>
              <a:cs typeface="Poppins"/>
              <a:sym typeface="Poppins"/>
            </a:endParaRPr>
          </a:p>
          <a:p>
            <a:pPr algn="l">
              <a:lnSpc>
                <a:spcPts val="3152"/>
              </a:lnSpc>
            </a:pPr>
            <a:endParaRPr lang="en-US" sz="2251" dirty="0">
              <a:solidFill>
                <a:srgbClr val="0D2529"/>
              </a:solidFill>
              <a:latin typeface="Poppins"/>
              <a:ea typeface="Poppins"/>
              <a:cs typeface="Poppins"/>
              <a:sym typeface="Poppins"/>
            </a:endParaRPr>
          </a:p>
          <a:p>
            <a:pPr algn="l">
              <a:lnSpc>
                <a:spcPts val="3152"/>
              </a:lnSpc>
            </a:pPr>
            <a:endParaRPr lang="en-US" sz="2251" dirty="0">
              <a:solidFill>
                <a:srgbClr val="0D2529"/>
              </a:solidFill>
              <a:latin typeface="Poppins"/>
              <a:ea typeface="Poppins"/>
              <a:cs typeface="Poppins"/>
              <a:sym typeface="Poppins"/>
            </a:endParaRPr>
          </a:p>
        </p:txBody>
      </p:sp>
      <p:grpSp>
        <p:nvGrpSpPr>
          <p:cNvPr id="21" name="Group 21"/>
          <p:cNvGrpSpPr/>
          <p:nvPr/>
        </p:nvGrpSpPr>
        <p:grpSpPr>
          <a:xfrm>
            <a:off x="435224" y="2975862"/>
            <a:ext cx="246946" cy="246946"/>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2529"/>
            </a:solidFill>
          </p:spPr>
        </p:sp>
        <p:sp>
          <p:nvSpPr>
            <p:cNvPr id="23" name="TextBox 23"/>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3019" y="3388300"/>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5521162" y="4636692"/>
            <a:ext cx="2975862" cy="2975862"/>
          </a:xfrm>
          <a:custGeom>
            <a:avLst/>
            <a:gdLst/>
            <a:ahLst/>
            <a:cxnLst/>
            <a:rect l="l" t="t" r="r" b="b"/>
            <a:pathLst>
              <a:path w="2975862" h="2975862">
                <a:moveTo>
                  <a:pt x="0" y="0"/>
                </a:moveTo>
                <a:lnTo>
                  <a:pt x="2975862" y="0"/>
                </a:lnTo>
                <a:lnTo>
                  <a:pt x="2975862" y="2975861"/>
                </a:lnTo>
                <a:lnTo>
                  <a:pt x="0" y="2975861"/>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4462527" y="-3400475"/>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5608263" y="1332571"/>
            <a:ext cx="671103" cy="453500"/>
          </a:xfrm>
          <a:custGeom>
            <a:avLst/>
            <a:gdLst/>
            <a:ahLst/>
            <a:cxnLst/>
            <a:rect l="l" t="t" r="r" b="b"/>
            <a:pathLst>
              <a:path w="671103" h="453500">
                <a:moveTo>
                  <a:pt x="0" y="0"/>
                </a:moveTo>
                <a:lnTo>
                  <a:pt x="671103" y="0"/>
                </a:lnTo>
                <a:lnTo>
                  <a:pt x="671103"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693149" y="1332571"/>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a:off x="15747584" y="1149841"/>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0" name="Freeform 10"/>
          <p:cNvSpPr/>
          <p:nvPr/>
        </p:nvSpPr>
        <p:spPr>
          <a:xfrm>
            <a:off x="14035137" y="566691"/>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Freeform 11"/>
          <p:cNvSpPr/>
          <p:nvPr/>
        </p:nvSpPr>
        <p:spPr>
          <a:xfrm>
            <a:off x="533400" y="1414395"/>
            <a:ext cx="9033942" cy="7579054"/>
          </a:xfrm>
          <a:custGeom>
            <a:avLst/>
            <a:gdLst/>
            <a:ahLst/>
            <a:cxnLst/>
            <a:rect l="l" t="t" r="r" b="b"/>
            <a:pathLst>
              <a:path w="8837124" h="7579054">
                <a:moveTo>
                  <a:pt x="0" y="0"/>
                </a:moveTo>
                <a:lnTo>
                  <a:pt x="8837123" y="0"/>
                </a:lnTo>
                <a:lnTo>
                  <a:pt x="8837123" y="7579054"/>
                </a:lnTo>
                <a:lnTo>
                  <a:pt x="0" y="7579054"/>
                </a:lnTo>
                <a:lnTo>
                  <a:pt x="0" y="0"/>
                </a:lnTo>
                <a:close/>
              </a:path>
            </a:pathLst>
          </a:custGeom>
          <a:blipFill>
            <a:blip r:embed="rId8"/>
            <a:stretch>
              <a:fillRect t="-582" b="-582"/>
            </a:stretch>
          </a:blipFill>
        </p:spPr>
      </p:sp>
      <p:sp>
        <p:nvSpPr>
          <p:cNvPr id="12" name="TextBox 12"/>
          <p:cNvSpPr txBox="1"/>
          <p:nvPr/>
        </p:nvSpPr>
        <p:spPr>
          <a:xfrm>
            <a:off x="6105259" y="345199"/>
            <a:ext cx="6939279" cy="1214122"/>
          </a:xfrm>
          <a:prstGeom prst="rect">
            <a:avLst/>
          </a:prstGeom>
        </p:spPr>
        <p:txBody>
          <a:bodyPr lIns="0" tIns="0" rIns="0" bIns="0" rtlCol="0" anchor="t">
            <a:spAutoFit/>
          </a:bodyPr>
          <a:lstStyle/>
          <a:p>
            <a:pPr algn="ctr">
              <a:lnSpc>
                <a:spcPts val="4300"/>
              </a:lnSpc>
            </a:pPr>
            <a:r>
              <a:rPr lang="en-US" sz="4300" spc="-236">
                <a:solidFill>
                  <a:srgbClr val="0D2529"/>
                </a:solidFill>
                <a:latin typeface="Heading Now 71-78"/>
                <a:ea typeface="Heading Now 71-78"/>
                <a:cs typeface="Heading Now 71-78"/>
                <a:sym typeface="Heading Now 71-78"/>
              </a:rPr>
              <a:t>Flutter mobile          Interfaces</a:t>
            </a:r>
          </a:p>
        </p:txBody>
      </p:sp>
      <p:sp>
        <p:nvSpPr>
          <p:cNvPr id="13" name="TextBox 13"/>
          <p:cNvSpPr txBox="1"/>
          <p:nvPr/>
        </p:nvSpPr>
        <p:spPr>
          <a:xfrm>
            <a:off x="693149" y="9270742"/>
            <a:ext cx="9366321" cy="690880"/>
          </a:xfrm>
          <a:prstGeom prst="rect">
            <a:avLst/>
          </a:prstGeom>
        </p:spPr>
        <p:txBody>
          <a:bodyPr lIns="0" tIns="0" rIns="0" bIns="0" rtlCol="0" anchor="t">
            <a:spAutoFit/>
          </a:bodyPr>
          <a:lstStyle/>
          <a:p>
            <a:pPr algn="l">
              <a:lnSpc>
                <a:spcPts val="1820"/>
              </a:lnSpc>
              <a:spcBef>
                <a:spcPct val="0"/>
              </a:spcBef>
            </a:pPr>
            <a:r>
              <a:rPr lang="en-US" dirty="0">
                <a:solidFill>
                  <a:srgbClr val="0D2529"/>
                </a:solidFill>
                <a:latin typeface="Canva Sans"/>
                <a:ea typeface="Canva Sans"/>
                <a:cs typeface="Canva Sans"/>
                <a:sym typeface="Canva Sans"/>
                <a:hlinkClick r:id="rId9" action="ppaction://hlinkfile"/>
              </a:rPr>
              <a:t>https://</a:t>
            </a:r>
            <a:r>
              <a:rPr lang="en-US" dirty="0" smtClean="0">
                <a:solidFill>
                  <a:srgbClr val="0D2529"/>
                </a:solidFill>
                <a:latin typeface="Canva Sans"/>
                <a:ea typeface="Canva Sans"/>
                <a:cs typeface="Canva Sans"/>
                <a:sym typeface="Canva Sans"/>
                <a:hlinkClick r:id="rId9" action="ppaction://hlinkfile"/>
              </a:rPr>
              <a:t>www.figma.com/proto/pG7mL3Oj2Rr37JAT9r7WJv/School-Parental-system?node-id=42-238&amp;p=f&amp;t=0WVSbhhXYOH6dG98-1&amp;scaling=scale-down&amp;content-scaling=fixed&amp;page-id=0%3A1&amp;starting-point-node-id=42%3A238</a:t>
            </a:r>
            <a:endParaRPr lang="en-US" dirty="0">
              <a:solidFill>
                <a:srgbClr val="0D2529"/>
              </a:solidFill>
              <a:latin typeface="Canva Sans"/>
              <a:ea typeface="Canva Sans"/>
              <a:cs typeface="Canva Sans"/>
              <a:sym typeface="Canva Sans"/>
            </a:endParaRPr>
          </a:p>
        </p:txBody>
      </p:sp>
      <p:sp>
        <p:nvSpPr>
          <p:cNvPr id="14" name="TextBox 14"/>
          <p:cNvSpPr txBox="1"/>
          <p:nvPr/>
        </p:nvSpPr>
        <p:spPr>
          <a:xfrm>
            <a:off x="9982200" y="1698951"/>
            <a:ext cx="8215122" cy="7785735"/>
          </a:xfrm>
          <a:prstGeom prst="rect">
            <a:avLst/>
          </a:prstGeom>
        </p:spPr>
        <p:txBody>
          <a:bodyPr lIns="0" tIns="0" rIns="0" bIns="0" rtlCol="0" anchor="t">
            <a:spAutoFit/>
          </a:bodyPr>
          <a:lstStyle/>
          <a:p>
            <a:pPr marL="0" lvl="0" indent="0" algn="l">
              <a:lnSpc>
                <a:spcPts val="2940"/>
              </a:lnSpc>
            </a:pPr>
            <a:r>
              <a:rPr lang="en-US" sz="2100" dirty="0">
                <a:solidFill>
                  <a:srgbClr val="0D2529"/>
                </a:solidFill>
                <a:latin typeface="TT Firs Neue"/>
                <a:ea typeface="TT Firs Neue"/>
                <a:cs typeface="TT Firs Neue"/>
                <a:sym typeface="TT Firs Neue"/>
              </a:rPr>
              <a:t>The School-Parental System is a mobile and web-based platform designed to bridge communication between schools, parents, and educators. As outlined in our SRS, the system serves three primary user roles: parents, teachers, and administrators, each with distinct functionalities tailored to their needs. User Roles and Authentication The SRS specifies role-based access control with three user types. Parents sign in using their South African ID number and a unique access code. Teachers use their work email and an access code. Administrators require an email, password, and an admin secret code for enhanced security. This multi-layered approach ensures sensitive learner information remains protected.</a:t>
            </a:r>
          </a:p>
          <a:p>
            <a:pPr marL="0" lvl="0" indent="0" algn="l">
              <a:lnSpc>
                <a:spcPts val="2940"/>
              </a:lnSpc>
            </a:pPr>
            <a:endParaRPr lang="en-US" sz="2100" dirty="0">
              <a:solidFill>
                <a:srgbClr val="0D2529"/>
              </a:solidFill>
              <a:latin typeface="TT Firs Neue"/>
              <a:ea typeface="TT Firs Neue"/>
              <a:cs typeface="TT Firs Neue"/>
              <a:sym typeface="TT Firs Neue"/>
            </a:endParaRPr>
          </a:p>
          <a:p>
            <a:pPr algn="l">
              <a:lnSpc>
                <a:spcPts val="2940"/>
              </a:lnSpc>
            </a:pPr>
            <a:r>
              <a:rPr lang="en-US" sz="2100" dirty="0">
                <a:solidFill>
                  <a:srgbClr val="0D2529"/>
                </a:solidFill>
                <a:latin typeface="TT Firs Neue"/>
                <a:ea typeface="TT Firs Neue"/>
                <a:cs typeface="TT Firs Neue"/>
                <a:sym typeface="TT Firs Neue"/>
              </a:rPr>
              <a:t>Parent Functionalities Parents access a dashboard displaying their child's profile, including admission number, date of birth, and school details. The SRS outlines key modules: Attendance (per-subject records with calendar view), Reports (downloadable termly PDFs), Events (upcoming activities), and Announcements (school news). Parents can also manage their profile, change access codes, and adjust notification settings.</a:t>
            </a:r>
          </a:p>
          <a:p>
            <a:pPr algn="l">
              <a:lnSpc>
                <a:spcPts val="2940"/>
              </a:lnSpc>
            </a:pPr>
            <a:endParaRPr lang="en-US" sz="2100" dirty="0">
              <a:solidFill>
                <a:srgbClr val="0D2529"/>
              </a:solidFill>
              <a:latin typeface="TT Firs Neue"/>
              <a:ea typeface="TT Firs Neue"/>
              <a:cs typeface="TT Firs Neue"/>
              <a:sym typeface="TT Firs Neue"/>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83011" y="7183927"/>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1360613" y="-82104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4" name="Group 4"/>
          <p:cNvGrpSpPr/>
          <p:nvPr/>
        </p:nvGrpSpPr>
        <p:grpSpPr>
          <a:xfrm rot="5400000">
            <a:off x="14483848" y="-2419742"/>
            <a:ext cx="2117269" cy="8157783"/>
            <a:chOff x="0" y="0"/>
            <a:chExt cx="557635" cy="2148552"/>
          </a:xfrm>
        </p:grpSpPr>
        <p:sp>
          <p:nvSpPr>
            <p:cNvPr id="5" name="Freeform 5"/>
            <p:cNvSpPr/>
            <p:nvPr/>
          </p:nvSpPr>
          <p:spPr>
            <a:xfrm>
              <a:off x="0" y="0"/>
              <a:ext cx="557635" cy="2148552"/>
            </a:xfrm>
            <a:custGeom>
              <a:avLst/>
              <a:gdLst/>
              <a:ahLst/>
              <a:cxnLst/>
              <a:rect l="l" t="t" r="r" b="b"/>
              <a:pathLst>
                <a:path w="557635" h="2148552">
                  <a:moveTo>
                    <a:pt x="0" y="0"/>
                  </a:moveTo>
                  <a:lnTo>
                    <a:pt x="557635" y="0"/>
                  </a:lnTo>
                  <a:lnTo>
                    <a:pt x="557635" y="2148552"/>
                  </a:lnTo>
                  <a:lnTo>
                    <a:pt x="0" y="214855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6" name="TextBox 6"/>
            <p:cNvSpPr txBox="1"/>
            <p:nvPr/>
          </p:nvSpPr>
          <p:spPr>
            <a:xfrm>
              <a:off x="0" y="-38100"/>
              <a:ext cx="557635" cy="218665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rot="-10800000">
            <a:off x="11597198" y="1559321"/>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8" name="Freeform 8"/>
          <p:cNvSpPr/>
          <p:nvPr/>
        </p:nvSpPr>
        <p:spPr>
          <a:xfrm rot="-10800000">
            <a:off x="6489717" y="1559321"/>
            <a:ext cx="671103" cy="453500"/>
          </a:xfrm>
          <a:custGeom>
            <a:avLst/>
            <a:gdLst/>
            <a:ahLst/>
            <a:cxnLst/>
            <a:rect l="l" t="t" r="r" b="b"/>
            <a:pathLst>
              <a:path w="671103" h="453500">
                <a:moveTo>
                  <a:pt x="0" y="0"/>
                </a:moveTo>
                <a:lnTo>
                  <a:pt x="671103" y="0"/>
                </a:lnTo>
                <a:lnTo>
                  <a:pt x="671103"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9" name="Freeform 9"/>
          <p:cNvSpPr/>
          <p:nvPr/>
        </p:nvSpPr>
        <p:spPr>
          <a:xfrm rot="-10800000">
            <a:off x="13143549" y="8804800"/>
            <a:ext cx="671103" cy="453500"/>
          </a:xfrm>
          <a:custGeom>
            <a:avLst/>
            <a:gdLst/>
            <a:ahLst/>
            <a:cxnLst/>
            <a:rect l="l" t="t" r="r" b="b"/>
            <a:pathLst>
              <a:path w="671103" h="453500">
                <a:moveTo>
                  <a:pt x="0" y="0"/>
                </a:moveTo>
                <a:lnTo>
                  <a:pt x="671103" y="0"/>
                </a:lnTo>
                <a:lnTo>
                  <a:pt x="671103" y="453500"/>
                </a:lnTo>
                <a:lnTo>
                  <a:pt x="0" y="453500"/>
                </a:lnTo>
                <a:lnTo>
                  <a:pt x="0" y="0"/>
                </a:lnTo>
                <a:close/>
              </a:path>
            </a:pathLst>
          </a:custGeom>
          <a:blipFill>
            <a:blip r:embed="rId4">
              <a:extLst>
                <a:ext uri="{96DAC541-7B7A-43D3-8B79-37D633B846F1}">
                  <asvg:svgBlip xmlns:asvg="http://schemas.microsoft.com/office/drawing/2016/SVG/main" xmlns="" r:embed="rId5"/>
                </a:ext>
              </a:extLst>
            </a:blip>
            <a:stretch>
              <a:fillRect t="-128590" r="-182255"/>
            </a:stretch>
          </a:blipFill>
        </p:spPr>
      </p:sp>
      <p:sp>
        <p:nvSpPr>
          <p:cNvPr id="10" name="Freeform 10"/>
          <p:cNvSpPr/>
          <p:nvPr/>
        </p:nvSpPr>
        <p:spPr>
          <a:xfrm>
            <a:off x="6610742" y="9404109"/>
            <a:ext cx="720920" cy="360460"/>
          </a:xfrm>
          <a:custGeom>
            <a:avLst/>
            <a:gdLst/>
            <a:ahLst/>
            <a:cxnLst/>
            <a:rect l="l" t="t" r="r" b="b"/>
            <a:pathLst>
              <a:path w="720920" h="360460">
                <a:moveTo>
                  <a:pt x="0" y="0"/>
                </a:moveTo>
                <a:lnTo>
                  <a:pt x="720920" y="0"/>
                </a:lnTo>
                <a:lnTo>
                  <a:pt x="720920" y="360459"/>
                </a:lnTo>
                <a:lnTo>
                  <a:pt x="0" y="36045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1" name="Freeform 11"/>
          <p:cNvSpPr/>
          <p:nvPr/>
        </p:nvSpPr>
        <p:spPr>
          <a:xfrm>
            <a:off x="560934" y="1379091"/>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12" name="TextBox 12"/>
          <p:cNvSpPr txBox="1"/>
          <p:nvPr/>
        </p:nvSpPr>
        <p:spPr>
          <a:xfrm>
            <a:off x="560934" y="309782"/>
            <a:ext cx="4458368" cy="1068070"/>
          </a:xfrm>
          <a:prstGeom prst="rect">
            <a:avLst/>
          </a:prstGeom>
        </p:spPr>
        <p:txBody>
          <a:bodyPr lIns="0" tIns="0" rIns="0" bIns="0" rtlCol="0" anchor="t">
            <a:spAutoFit/>
          </a:bodyPr>
          <a:lstStyle/>
          <a:p>
            <a:pPr algn="l">
              <a:lnSpc>
                <a:spcPts val="6800"/>
              </a:lnSpc>
            </a:pPr>
            <a:r>
              <a:rPr lang="en-US" sz="6800" spc="-374">
                <a:solidFill>
                  <a:srgbClr val="0D2529"/>
                </a:solidFill>
                <a:latin typeface="Heading Now 71-78"/>
                <a:ea typeface="Heading Now 71-78"/>
                <a:cs typeface="Heading Now 71-78"/>
                <a:sym typeface="Heading Now 71-78"/>
              </a:rPr>
              <a:t>CONT.</a:t>
            </a:r>
          </a:p>
        </p:txBody>
      </p:sp>
      <p:sp>
        <p:nvSpPr>
          <p:cNvPr id="13" name="TextBox 13"/>
          <p:cNvSpPr txBox="1"/>
          <p:nvPr/>
        </p:nvSpPr>
        <p:spPr>
          <a:xfrm>
            <a:off x="560934" y="5482171"/>
            <a:ext cx="16150796" cy="4225925"/>
          </a:xfrm>
          <a:prstGeom prst="rect">
            <a:avLst/>
          </a:prstGeom>
        </p:spPr>
        <p:txBody>
          <a:bodyPr lIns="0" tIns="0" rIns="0" bIns="0" rtlCol="0" anchor="t">
            <a:spAutoFit/>
          </a:bodyPr>
          <a:lstStyle/>
          <a:p>
            <a:pPr marL="0" lvl="0" indent="0" algn="l">
              <a:lnSpc>
                <a:spcPts val="2800"/>
              </a:lnSpc>
            </a:pPr>
            <a:r>
              <a:rPr lang="en-US" sz="2000">
                <a:solidFill>
                  <a:srgbClr val="0D2529"/>
                </a:solidFill>
                <a:latin typeface="TT Firs Neue"/>
                <a:ea typeface="TT Firs Neue"/>
                <a:cs typeface="TT Firs Neue"/>
                <a:sym typeface="TT Firs Neue"/>
              </a:rPr>
              <a:t>Key Workflows The SRS defines critical workflows: Admin adds parent → system generates access code → parent signs in. Teacher marks attendance → parent sees update. Teacher records grades → Admin uploads termly report → Parent downloads PDF. These workflows ensure seamless information flow between all parties. Design and Security The SRS emphasises a clean, mobile-first interface with colour-coded statuses (green = present, red = absent, yellow = late) and bottom navigation tailored to each role. Security includes multiple authentication layers, system-generated access codes, and announcement acknowledgement requirements.</a:t>
            </a:r>
          </a:p>
          <a:p>
            <a:pPr marL="0" lvl="0" indent="0" algn="l">
              <a:lnSpc>
                <a:spcPts val="2800"/>
              </a:lnSpc>
            </a:pPr>
            <a:endParaRPr lang="en-US" sz="2000">
              <a:solidFill>
                <a:srgbClr val="0D2529"/>
              </a:solidFill>
              <a:latin typeface="TT Firs Neue"/>
              <a:ea typeface="TT Firs Neue"/>
              <a:cs typeface="TT Firs Neue"/>
              <a:sym typeface="TT Firs Neue"/>
            </a:endParaRPr>
          </a:p>
          <a:p>
            <a:pPr marL="0" lvl="0" indent="0" algn="l">
              <a:lnSpc>
                <a:spcPts val="2800"/>
              </a:lnSpc>
            </a:pPr>
            <a:r>
              <a:rPr lang="en-US" sz="2000">
                <a:solidFill>
                  <a:srgbClr val="0D2529"/>
                </a:solidFill>
                <a:latin typeface="TT Firs Neue"/>
                <a:ea typeface="TT Firs Neue"/>
                <a:cs typeface="TT Firs Neue"/>
                <a:sym typeface="TT Firs Neue"/>
              </a:rPr>
              <a:t>Conclusion The School-Parental System provides a comprehensive solution for enhancing communication between schools, parents, and educators. As detailed in our SRS, it offers role-specific functionalities, secure authentication, and intuitive design, fostering collaboration for learner success.</a:t>
            </a:r>
          </a:p>
          <a:p>
            <a:pPr marL="0" lvl="0" indent="0" algn="l">
              <a:lnSpc>
                <a:spcPts val="2800"/>
              </a:lnSpc>
            </a:pPr>
            <a:endParaRPr lang="en-US" sz="2000">
              <a:solidFill>
                <a:srgbClr val="0D2529"/>
              </a:solidFill>
              <a:latin typeface="TT Firs Neue"/>
              <a:ea typeface="TT Firs Neue"/>
              <a:cs typeface="TT Firs Neue"/>
              <a:sym typeface="TT Firs Neue"/>
            </a:endParaRPr>
          </a:p>
          <a:p>
            <a:pPr algn="l">
              <a:lnSpc>
                <a:spcPts val="2800"/>
              </a:lnSpc>
            </a:pPr>
            <a:endParaRPr lang="en-US" sz="2000">
              <a:solidFill>
                <a:srgbClr val="0D2529"/>
              </a:solidFill>
              <a:latin typeface="TT Firs Neue"/>
              <a:ea typeface="TT Firs Neue"/>
              <a:cs typeface="TT Firs Neue"/>
              <a:sym typeface="TT Firs Neue"/>
            </a:endParaRPr>
          </a:p>
        </p:txBody>
      </p:sp>
      <p:sp>
        <p:nvSpPr>
          <p:cNvPr id="14" name="TextBox 14"/>
          <p:cNvSpPr txBox="1"/>
          <p:nvPr/>
        </p:nvSpPr>
        <p:spPr>
          <a:xfrm>
            <a:off x="560934" y="3942296"/>
            <a:ext cx="16150796" cy="1406525"/>
          </a:xfrm>
          <a:prstGeom prst="rect">
            <a:avLst/>
          </a:prstGeom>
        </p:spPr>
        <p:txBody>
          <a:bodyPr lIns="0" tIns="0" rIns="0" bIns="0" rtlCol="0" anchor="t">
            <a:spAutoFit/>
          </a:bodyPr>
          <a:lstStyle/>
          <a:p>
            <a:pPr marL="0" lvl="0" indent="0" algn="l">
              <a:lnSpc>
                <a:spcPts val="2800"/>
              </a:lnSpc>
            </a:pPr>
            <a:r>
              <a:rPr lang="en-US" sz="2000">
                <a:solidFill>
                  <a:srgbClr val="0D2529"/>
                </a:solidFill>
                <a:latin typeface="TT Firs Neue"/>
                <a:ea typeface="TT Firs Neue"/>
                <a:cs typeface="TT Firs Neue"/>
                <a:sym typeface="TT Firs Neue"/>
              </a:rPr>
              <a:t>Administrator Functionalities Administrators enjoy school-wide oversight through a dashboard showing total students, teachers, classes, and attendance rates. The SRS details their ability to manage users (add, edit, remove learners, parents, teachers), manage schools, create targeted announcements, upload reports, manage subjects, and add timetable entries. </a:t>
            </a:r>
          </a:p>
          <a:p>
            <a:pPr algn="l">
              <a:lnSpc>
                <a:spcPts val="2800"/>
              </a:lnSpc>
            </a:pPr>
            <a:endParaRPr lang="en-US" sz="2000">
              <a:solidFill>
                <a:srgbClr val="0D2529"/>
              </a:solidFill>
              <a:latin typeface="TT Firs Neue"/>
              <a:ea typeface="TT Firs Neue"/>
              <a:cs typeface="TT Firs Neue"/>
              <a:sym typeface="TT Firs Neue"/>
            </a:endParaRPr>
          </a:p>
        </p:txBody>
      </p:sp>
      <p:sp>
        <p:nvSpPr>
          <p:cNvPr id="15" name="TextBox 15"/>
          <p:cNvSpPr txBox="1"/>
          <p:nvPr/>
        </p:nvSpPr>
        <p:spPr>
          <a:xfrm>
            <a:off x="560934" y="2307171"/>
            <a:ext cx="16150796" cy="1406525"/>
          </a:xfrm>
          <a:prstGeom prst="rect">
            <a:avLst/>
          </a:prstGeom>
        </p:spPr>
        <p:txBody>
          <a:bodyPr lIns="0" tIns="0" rIns="0" bIns="0" rtlCol="0" anchor="t">
            <a:spAutoFit/>
          </a:bodyPr>
          <a:lstStyle/>
          <a:p>
            <a:pPr algn="l">
              <a:lnSpc>
                <a:spcPts val="2800"/>
              </a:lnSpc>
            </a:pPr>
            <a:r>
              <a:rPr lang="en-US" sz="2000">
                <a:solidFill>
                  <a:srgbClr val="0D2529"/>
                </a:solidFill>
                <a:latin typeface="TT Firs Neue"/>
                <a:ea typeface="TT Firs Neue"/>
                <a:cs typeface="TT Firs Neue"/>
                <a:sym typeface="TT Firs Neue"/>
              </a:rPr>
              <a:t>Teacher Functionalities Teachers receive classroom management tools as per the SRS. They can view assigned classes, mark attendance (present, absent, or late), create assessments, record grades, and automatically convert marks to percentages. The timetable feature provides daily schedules with direct links to mark attendance. Teachers can also publish announcements to specific classes with priority levels.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8494382" y="-29109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6457741" y="3655569"/>
            <a:ext cx="2975862" cy="2975862"/>
          </a:xfrm>
          <a:custGeom>
            <a:avLst/>
            <a:gdLst/>
            <a:ahLst/>
            <a:cxnLst/>
            <a:rect l="l" t="t" r="r" b="b"/>
            <a:pathLst>
              <a:path w="2975862" h="2975862">
                <a:moveTo>
                  <a:pt x="0" y="0"/>
                </a:moveTo>
                <a:lnTo>
                  <a:pt x="2975861" y="0"/>
                </a:lnTo>
                <a:lnTo>
                  <a:pt x="2975861"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4" name="Freeform 4"/>
          <p:cNvSpPr/>
          <p:nvPr/>
        </p:nvSpPr>
        <p:spPr>
          <a:xfrm>
            <a:off x="1292427" y="867587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5" name="Group 5"/>
          <p:cNvGrpSpPr/>
          <p:nvPr/>
        </p:nvGrpSpPr>
        <p:grpSpPr>
          <a:xfrm>
            <a:off x="-493587" y="-349695"/>
            <a:ext cx="2117269" cy="9607995"/>
            <a:chOff x="0" y="0"/>
            <a:chExt cx="557635" cy="2530501"/>
          </a:xfrm>
        </p:grpSpPr>
        <p:sp>
          <p:nvSpPr>
            <p:cNvPr id="6" name="Freeform 6"/>
            <p:cNvSpPr/>
            <p:nvPr/>
          </p:nvSpPr>
          <p:spPr>
            <a:xfrm>
              <a:off x="0" y="0"/>
              <a:ext cx="557635" cy="2530501"/>
            </a:xfrm>
            <a:custGeom>
              <a:avLst/>
              <a:gdLst/>
              <a:ahLst/>
              <a:cxnLst/>
              <a:rect l="l" t="t" r="r" b="b"/>
              <a:pathLst>
                <a:path w="557635" h="2530501">
                  <a:moveTo>
                    <a:pt x="0" y="0"/>
                  </a:moveTo>
                  <a:lnTo>
                    <a:pt x="557635" y="0"/>
                  </a:lnTo>
                  <a:lnTo>
                    <a:pt x="557635" y="2530501"/>
                  </a:lnTo>
                  <a:lnTo>
                    <a:pt x="0" y="2530501"/>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7" name="TextBox 7"/>
            <p:cNvSpPr txBox="1"/>
            <p:nvPr/>
          </p:nvSpPr>
          <p:spPr>
            <a:xfrm>
              <a:off x="0" y="-38100"/>
              <a:ext cx="557635" cy="2568601"/>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484148" y="560366"/>
            <a:ext cx="5920119" cy="1744067"/>
          </a:xfrm>
          <a:prstGeom prst="rect">
            <a:avLst/>
          </a:prstGeom>
        </p:spPr>
        <p:txBody>
          <a:bodyPr wrap="square" lIns="0" tIns="0" rIns="0" bIns="0" rtlCol="0" anchor="t">
            <a:spAutoFit/>
          </a:bodyPr>
          <a:lstStyle/>
          <a:p>
            <a:pPr algn="ctr">
              <a:lnSpc>
                <a:spcPts val="6800"/>
              </a:lnSpc>
            </a:pPr>
            <a:r>
              <a:rPr lang="en-US" sz="6800" spc="-374" dirty="0">
                <a:solidFill>
                  <a:srgbClr val="0D2529"/>
                </a:solidFill>
                <a:latin typeface="Heading Now 71-78"/>
                <a:ea typeface="Heading Now 71-78"/>
                <a:cs typeface="Heading Now 71-78"/>
                <a:sym typeface="Heading Now 71-78"/>
              </a:rPr>
              <a:t>ASP.NET web interfaces</a:t>
            </a:r>
            <a:endParaRPr lang="en-US" sz="6800" spc="-374" dirty="0">
              <a:solidFill>
                <a:srgbClr val="0D2529"/>
              </a:solidFill>
              <a:latin typeface="Heading Now 71-78"/>
              <a:ea typeface="Heading Now 71-78"/>
              <a:cs typeface="Heading Now 71-78"/>
              <a:sym typeface="Heading Now 71-78"/>
            </a:endParaRPr>
          </a:p>
        </p:txBody>
      </p:sp>
      <p:sp>
        <p:nvSpPr>
          <p:cNvPr id="10" name="TextBox 10"/>
          <p:cNvSpPr txBox="1"/>
          <p:nvPr/>
        </p:nvSpPr>
        <p:spPr>
          <a:xfrm>
            <a:off x="2181465" y="8384001"/>
            <a:ext cx="9904557" cy="1423467"/>
          </a:xfrm>
          <a:prstGeom prst="rect">
            <a:avLst/>
          </a:prstGeom>
        </p:spPr>
        <p:txBody>
          <a:bodyPr lIns="0" tIns="0" rIns="0" bIns="0" rtlCol="0" anchor="t">
            <a:spAutoFit/>
          </a:bodyPr>
          <a:lstStyle/>
          <a:p>
            <a:pPr>
              <a:lnSpc>
                <a:spcPts val="2800"/>
              </a:lnSpc>
            </a:pPr>
            <a:r>
              <a:rPr lang="en-US" sz="2000" dirty="0" smtClean="0">
                <a:solidFill>
                  <a:srgbClr val="0D2529"/>
                </a:solidFill>
                <a:latin typeface="TT Firs Neue"/>
                <a:ea typeface="TT Firs Neue"/>
                <a:cs typeface="TT Firs Neue"/>
                <a:sym typeface="TT Firs Neue"/>
                <a:hlinkClick r:id="rId4" action="ppaction://hlinkfile"/>
              </a:rPr>
              <a:t>https</a:t>
            </a:r>
            <a:r>
              <a:rPr lang="en-US" sz="2000" dirty="0">
                <a:solidFill>
                  <a:srgbClr val="0D2529"/>
                </a:solidFill>
                <a:latin typeface="TT Firs Neue"/>
                <a:ea typeface="TT Firs Neue"/>
                <a:cs typeface="TT Firs Neue"/>
                <a:sym typeface="TT Firs Neue"/>
                <a:hlinkClick r:id="rId4" action="ppaction://hlinkfile"/>
              </a:rPr>
              <a:t>://www.figma.com/proto/lPObV3qt8TfARP7lGBJZqU/School-Parental-System?node-id=197-2563&amp;p=f&amp;viewport=-167%2C288%2C0.1&amp;t=Gi9OyypmECYmlsAf-1&amp;scaling=contain&amp;content-scaling=fixed&amp;starting-point-node-id=197%3A2563&amp;page-id=0%3A1</a:t>
            </a:r>
            <a:endParaRPr lang="en-US" sz="2000" dirty="0">
              <a:solidFill>
                <a:srgbClr val="0D2529"/>
              </a:solidFill>
              <a:latin typeface="TT Firs Neue"/>
              <a:ea typeface="TT Firs Neue"/>
              <a:cs typeface="TT Firs Neue"/>
              <a:sym typeface="TT Firs Neue"/>
            </a:endParaRPr>
          </a:p>
        </p:txBody>
      </p:sp>
      <p:sp>
        <p:nvSpPr>
          <p:cNvPr id="11" name="Freeform 11"/>
          <p:cNvSpPr/>
          <p:nvPr/>
        </p:nvSpPr>
        <p:spPr>
          <a:xfrm rot="-10800000">
            <a:off x="7404267" y="1432400"/>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5">
              <a:extLst>
                <a:ext uri="{96DAC541-7B7A-43D3-8B79-37D633B846F1}">
                  <asvg:svgBlip xmlns:asvg="http://schemas.microsoft.com/office/drawing/2016/SVG/main" xmlns="" r:embed="rId7"/>
                </a:ext>
              </a:extLst>
            </a:blip>
            <a:stretch>
              <a:fillRect t="-128590" r="-182255"/>
            </a:stretch>
          </a:blipFill>
        </p:spPr>
      </p:sp>
      <p:sp>
        <p:nvSpPr>
          <p:cNvPr id="12" name="Freeform 12"/>
          <p:cNvSpPr/>
          <p:nvPr/>
        </p:nvSpPr>
        <p:spPr>
          <a:xfrm rot="-10800000">
            <a:off x="14081016" y="9710306"/>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5">
              <a:extLst>
                <a:ext uri="{96DAC541-7B7A-43D3-8B79-37D633B846F1}">
                  <asvg:svgBlip xmlns:asvg="http://schemas.microsoft.com/office/drawing/2016/SVG/main" xmlns="" r:embed="rId7"/>
                </a:ext>
              </a:extLst>
            </a:blip>
            <a:stretch>
              <a:fillRect t="-128590" r="-182255"/>
            </a:stretch>
          </a:blipFill>
        </p:spPr>
      </p:sp>
      <p:sp>
        <p:nvSpPr>
          <p:cNvPr id="13" name="Freeform 13"/>
          <p:cNvSpPr/>
          <p:nvPr/>
        </p:nvSpPr>
        <p:spPr>
          <a:xfrm rot="-10800000">
            <a:off x="16749235" y="7857347"/>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5">
              <a:extLst>
                <a:ext uri="{96DAC541-7B7A-43D3-8B79-37D633B846F1}">
                  <asvg:svgBlip xmlns:asvg="http://schemas.microsoft.com/office/drawing/2016/SVG/main" xmlns="" r:embed="rId7"/>
                </a:ext>
              </a:extLst>
            </a:blip>
            <a:stretch>
              <a:fillRect t="-128590" r="-182255"/>
            </a:stretch>
          </a:blipFill>
        </p:spPr>
      </p:sp>
      <p:sp>
        <p:nvSpPr>
          <p:cNvPr id="14" name="Freeform 14"/>
          <p:cNvSpPr/>
          <p:nvPr/>
        </p:nvSpPr>
        <p:spPr>
          <a:xfrm>
            <a:off x="16267785" y="668240"/>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15" name="Freeform 15"/>
          <p:cNvSpPr/>
          <p:nvPr/>
        </p:nvSpPr>
        <p:spPr>
          <a:xfrm>
            <a:off x="668240" y="7903867"/>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pic>
        <p:nvPicPr>
          <p:cNvPr id="19" name="Picture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8201" y="2449094"/>
            <a:ext cx="17635326" cy="557717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8494382" y="-29109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6457741" y="3655569"/>
            <a:ext cx="2975862" cy="2975862"/>
          </a:xfrm>
          <a:custGeom>
            <a:avLst/>
            <a:gdLst/>
            <a:ahLst/>
            <a:cxnLst/>
            <a:rect l="l" t="t" r="r" b="b"/>
            <a:pathLst>
              <a:path w="2975862" h="2975862">
                <a:moveTo>
                  <a:pt x="0" y="0"/>
                </a:moveTo>
                <a:lnTo>
                  <a:pt x="2975861" y="0"/>
                </a:lnTo>
                <a:lnTo>
                  <a:pt x="2975861"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4" name="Freeform 4"/>
          <p:cNvSpPr/>
          <p:nvPr/>
        </p:nvSpPr>
        <p:spPr>
          <a:xfrm>
            <a:off x="1292427" y="867587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5" name="Group 5"/>
          <p:cNvGrpSpPr/>
          <p:nvPr/>
        </p:nvGrpSpPr>
        <p:grpSpPr>
          <a:xfrm>
            <a:off x="24287" y="7647"/>
            <a:ext cx="2117269" cy="9607995"/>
            <a:chOff x="0" y="0"/>
            <a:chExt cx="557635" cy="2530501"/>
          </a:xfrm>
        </p:grpSpPr>
        <p:sp>
          <p:nvSpPr>
            <p:cNvPr id="6" name="Freeform 6"/>
            <p:cNvSpPr/>
            <p:nvPr/>
          </p:nvSpPr>
          <p:spPr>
            <a:xfrm>
              <a:off x="0" y="0"/>
              <a:ext cx="557635" cy="2530501"/>
            </a:xfrm>
            <a:custGeom>
              <a:avLst/>
              <a:gdLst/>
              <a:ahLst/>
              <a:cxnLst/>
              <a:rect l="l" t="t" r="r" b="b"/>
              <a:pathLst>
                <a:path w="557635" h="2530501">
                  <a:moveTo>
                    <a:pt x="0" y="0"/>
                  </a:moveTo>
                  <a:lnTo>
                    <a:pt x="557635" y="0"/>
                  </a:lnTo>
                  <a:lnTo>
                    <a:pt x="557635" y="2530501"/>
                  </a:lnTo>
                  <a:lnTo>
                    <a:pt x="0" y="2530501"/>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7" name="TextBox 7"/>
            <p:cNvSpPr txBox="1"/>
            <p:nvPr/>
          </p:nvSpPr>
          <p:spPr>
            <a:xfrm>
              <a:off x="0" y="-38100"/>
              <a:ext cx="557635" cy="2568601"/>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12453"/>
            <a:ext cx="5920119" cy="872034"/>
          </a:xfrm>
          <a:prstGeom prst="rect">
            <a:avLst/>
          </a:prstGeom>
        </p:spPr>
        <p:txBody>
          <a:bodyPr wrap="square" lIns="0" tIns="0" rIns="0" bIns="0" rtlCol="0" anchor="t">
            <a:spAutoFit/>
          </a:bodyPr>
          <a:lstStyle/>
          <a:p>
            <a:pPr algn="ctr">
              <a:lnSpc>
                <a:spcPts val="6800"/>
              </a:lnSpc>
            </a:pPr>
            <a:r>
              <a:rPr lang="en-US" sz="6800" spc="-374" dirty="0" smtClean="0">
                <a:solidFill>
                  <a:srgbClr val="0D2529"/>
                </a:solidFill>
                <a:latin typeface="Heading Now 71-78"/>
                <a:ea typeface="Heading Now 71-78"/>
                <a:cs typeface="Heading Now 71-78"/>
                <a:sym typeface="Heading Now 71-78"/>
              </a:rPr>
              <a:t>CONT.</a:t>
            </a:r>
            <a:endParaRPr lang="en-US" sz="6800" spc="-374" dirty="0">
              <a:solidFill>
                <a:srgbClr val="0D2529"/>
              </a:solidFill>
              <a:latin typeface="Heading Now 71-78"/>
              <a:ea typeface="Heading Now 71-78"/>
              <a:cs typeface="Heading Now 71-78"/>
              <a:sym typeface="Heading Now 71-78"/>
            </a:endParaRPr>
          </a:p>
        </p:txBody>
      </p:sp>
      <p:sp>
        <p:nvSpPr>
          <p:cNvPr id="11" name="Freeform 11"/>
          <p:cNvSpPr/>
          <p:nvPr/>
        </p:nvSpPr>
        <p:spPr>
          <a:xfrm rot="-10800000">
            <a:off x="7404267" y="1432400"/>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7"/>
                </a:ext>
              </a:extLst>
            </a:blip>
            <a:stretch>
              <a:fillRect t="-128590" r="-182255"/>
            </a:stretch>
          </a:blipFill>
        </p:spPr>
      </p:sp>
      <p:sp>
        <p:nvSpPr>
          <p:cNvPr id="12" name="Freeform 12"/>
          <p:cNvSpPr/>
          <p:nvPr/>
        </p:nvSpPr>
        <p:spPr>
          <a:xfrm rot="-10800000">
            <a:off x="14081016" y="9710306"/>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7"/>
                </a:ext>
              </a:extLst>
            </a:blip>
            <a:stretch>
              <a:fillRect t="-128590" r="-182255"/>
            </a:stretch>
          </a:blipFill>
        </p:spPr>
      </p:sp>
      <p:sp>
        <p:nvSpPr>
          <p:cNvPr id="13" name="Freeform 13"/>
          <p:cNvSpPr/>
          <p:nvPr/>
        </p:nvSpPr>
        <p:spPr>
          <a:xfrm rot="-10800000">
            <a:off x="16749235" y="7857347"/>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7"/>
                </a:ext>
              </a:extLst>
            </a:blip>
            <a:stretch>
              <a:fillRect t="-128590" r="-182255"/>
            </a:stretch>
          </a:blipFill>
        </p:spPr>
      </p:sp>
      <p:sp>
        <p:nvSpPr>
          <p:cNvPr id="14" name="Freeform 14"/>
          <p:cNvSpPr/>
          <p:nvPr/>
        </p:nvSpPr>
        <p:spPr>
          <a:xfrm>
            <a:off x="16267785" y="668240"/>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15" name="Freeform 15"/>
          <p:cNvSpPr/>
          <p:nvPr/>
        </p:nvSpPr>
        <p:spPr>
          <a:xfrm>
            <a:off x="5825916" y="1196833"/>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8" name="Rectangle 7"/>
          <p:cNvSpPr/>
          <p:nvPr/>
        </p:nvSpPr>
        <p:spPr>
          <a:xfrm>
            <a:off x="316847" y="1841601"/>
            <a:ext cx="17930290" cy="5940088"/>
          </a:xfrm>
          <a:prstGeom prst="rect">
            <a:avLst/>
          </a:prstGeom>
        </p:spPr>
        <p:txBody>
          <a:bodyPr wrap="square">
            <a:spAutoFit/>
          </a:bodyPr>
          <a:lstStyle/>
          <a:p>
            <a:r>
              <a:rPr lang="en-US" sz="2000" dirty="0"/>
              <a:t>Web Application Workflow</a:t>
            </a:r>
          </a:p>
          <a:p>
            <a:endParaRPr lang="en-US" sz="2000" dirty="0"/>
          </a:p>
          <a:p>
            <a:r>
              <a:rPr lang="en-US" sz="2000" dirty="0"/>
              <a:t>The School-Parental System web application is divided into three role-based interfaces: School Admin, Teacher, and Super Admin. Each user logs in using their </a:t>
            </a:r>
            <a:r>
              <a:rPr lang="en-US" sz="2000" dirty="0" err="1"/>
              <a:t>authorised</a:t>
            </a:r>
            <a:r>
              <a:rPr lang="en-US" sz="2000" dirty="0"/>
              <a:t> credentials and is redirected to the appropriate dashboard according to their role. Although all three interfaces follow the same overall design, navigation and available functions differ according to the permissions defined for each user.</a:t>
            </a:r>
          </a:p>
          <a:p>
            <a:endParaRPr lang="en-US" sz="2000" dirty="0"/>
          </a:p>
          <a:p>
            <a:r>
              <a:rPr lang="en-US" sz="2000" dirty="0"/>
              <a:t>School Admin Website</a:t>
            </a:r>
          </a:p>
          <a:p>
            <a:endParaRPr lang="en-US" sz="2000" dirty="0"/>
          </a:p>
          <a:p>
            <a:r>
              <a:rPr lang="en-US" sz="2000" dirty="0"/>
              <a:t>The School Admin starts at the Login page and can use Forgot Password if they cannot access their account before returning to the login page. After successful login, the user is directed to the School Admin Dashboard, which provides an overview of the school and navigation to the main modules. In Learner Management, the administrator can add new learners and manage existing learner information. In the prototype, Ethan Brown is used to demonstrate the complete learner workflow. The administrator can view his details using the eye icon, edit his information using the edit icon, or deactivate his record using the bin icon. The Cancel, Update Details, and Deactivate actions return the user to the Learner Management screen. The same interaction is demonstrated in Teacher Management using Michael </a:t>
            </a:r>
            <a:r>
              <a:rPr lang="en-US" sz="2000" dirty="0" err="1"/>
              <a:t>Kumalo</a:t>
            </a:r>
            <a:r>
              <a:rPr lang="en-US" sz="2000" dirty="0"/>
              <a:t> and in Parent/Guardian Management using </a:t>
            </a:r>
            <a:r>
              <a:rPr lang="en-US" sz="2000" dirty="0" err="1"/>
              <a:t>Xolani</a:t>
            </a:r>
            <a:r>
              <a:rPr lang="en-US" sz="2000" dirty="0"/>
              <a:t> </a:t>
            </a:r>
            <a:r>
              <a:rPr lang="en-US" sz="2000" dirty="0" err="1"/>
              <a:t>Mngadi</a:t>
            </a:r>
            <a:r>
              <a:rPr lang="en-US" sz="2000" dirty="0"/>
              <a:t>. The Add Learner, Add Teacher, and Add Parent/Guardian buttons also open their respective forms. In Class Management, the administrator can create a new class using the Create Class button. The Communication Management module allows the administrator to create school announcements, with Cancel returning to the communication screen and Publish completing the announcement process. The administrator can also access their profile and edit profile information. When Logout is selected, a confirmation modal appears; confirming logout returns the user to the Login page, while cancelling returns the user to the dashboard.</a:t>
            </a:r>
          </a:p>
          <a:p>
            <a:endParaRPr lang="en-US" sz="2000" dirty="0"/>
          </a:p>
        </p:txBody>
      </p:sp>
      <p:sp>
        <p:nvSpPr>
          <p:cNvPr id="16" name="Rectangle 15"/>
          <p:cNvSpPr/>
          <p:nvPr/>
        </p:nvSpPr>
        <p:spPr>
          <a:xfrm>
            <a:off x="316847" y="7459888"/>
            <a:ext cx="17324483" cy="2246769"/>
          </a:xfrm>
          <a:prstGeom prst="rect">
            <a:avLst/>
          </a:prstGeom>
        </p:spPr>
        <p:txBody>
          <a:bodyPr wrap="square">
            <a:spAutoFit/>
          </a:bodyPr>
          <a:lstStyle/>
          <a:p>
            <a:r>
              <a:rPr lang="en-US" sz="2000" dirty="0"/>
              <a:t>Teacher Website</a:t>
            </a:r>
          </a:p>
          <a:p>
            <a:endParaRPr lang="en-US" sz="2000" dirty="0"/>
          </a:p>
          <a:p>
            <a:r>
              <a:rPr lang="en-US" sz="2000" dirty="0"/>
              <a:t>The Teacher website follows the same login, profile, navigation, and logout flow, but the available functions are limited to the teacher's responsibilities. After logging in, the teacher can access their dashboard and assigned class information. Teachers can record and update attendance, view attendance records, and manage learner grades for the classes and subjects they teach. Within Grade Recording, teachers can add new grade records as well as edit existing records. They can also use Communication Management to create announcements for their assigned classes where permitted and view class-related communication and events. This ensures that functions such as attendance and grade capturing remain the responsibility of teachers rather than School Administrators.</a:t>
            </a:r>
            <a:endParaRPr lang="en-US" sz="2000" dirty="0"/>
          </a:p>
        </p:txBody>
      </p:sp>
    </p:spTree>
    <p:extLst>
      <p:ext uri="{BB962C8B-B14F-4D97-AF65-F5344CB8AC3E}">
        <p14:creationId xmlns:p14="http://schemas.microsoft.com/office/powerpoint/2010/main" val="32481894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8494382" y="-29109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6457741" y="3655569"/>
            <a:ext cx="2975862" cy="2975862"/>
          </a:xfrm>
          <a:custGeom>
            <a:avLst/>
            <a:gdLst/>
            <a:ahLst/>
            <a:cxnLst/>
            <a:rect l="l" t="t" r="r" b="b"/>
            <a:pathLst>
              <a:path w="2975862" h="2975862">
                <a:moveTo>
                  <a:pt x="0" y="0"/>
                </a:moveTo>
                <a:lnTo>
                  <a:pt x="2975861" y="0"/>
                </a:lnTo>
                <a:lnTo>
                  <a:pt x="2975861"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4" name="Freeform 4"/>
          <p:cNvSpPr/>
          <p:nvPr/>
        </p:nvSpPr>
        <p:spPr>
          <a:xfrm>
            <a:off x="1292427" y="867587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5" name="Group 5"/>
          <p:cNvGrpSpPr/>
          <p:nvPr/>
        </p:nvGrpSpPr>
        <p:grpSpPr>
          <a:xfrm>
            <a:off x="1329" y="0"/>
            <a:ext cx="2117269" cy="9607995"/>
            <a:chOff x="0" y="0"/>
            <a:chExt cx="557635" cy="2530501"/>
          </a:xfrm>
        </p:grpSpPr>
        <p:sp>
          <p:nvSpPr>
            <p:cNvPr id="6" name="Freeform 6"/>
            <p:cNvSpPr/>
            <p:nvPr/>
          </p:nvSpPr>
          <p:spPr>
            <a:xfrm>
              <a:off x="0" y="0"/>
              <a:ext cx="557635" cy="2530501"/>
            </a:xfrm>
            <a:custGeom>
              <a:avLst/>
              <a:gdLst/>
              <a:ahLst/>
              <a:cxnLst/>
              <a:rect l="l" t="t" r="r" b="b"/>
              <a:pathLst>
                <a:path w="557635" h="2530501">
                  <a:moveTo>
                    <a:pt x="0" y="0"/>
                  </a:moveTo>
                  <a:lnTo>
                    <a:pt x="557635" y="0"/>
                  </a:lnTo>
                  <a:lnTo>
                    <a:pt x="557635" y="2530501"/>
                  </a:lnTo>
                  <a:lnTo>
                    <a:pt x="0" y="2530501"/>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7" name="TextBox 7"/>
            <p:cNvSpPr txBox="1"/>
            <p:nvPr/>
          </p:nvSpPr>
          <p:spPr>
            <a:xfrm>
              <a:off x="0" y="-38100"/>
              <a:ext cx="557635" cy="2568601"/>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12453"/>
            <a:ext cx="5920119" cy="872034"/>
          </a:xfrm>
          <a:prstGeom prst="rect">
            <a:avLst/>
          </a:prstGeom>
        </p:spPr>
        <p:txBody>
          <a:bodyPr wrap="square" lIns="0" tIns="0" rIns="0" bIns="0" rtlCol="0" anchor="t">
            <a:spAutoFit/>
          </a:bodyPr>
          <a:lstStyle/>
          <a:p>
            <a:pPr algn="ctr">
              <a:lnSpc>
                <a:spcPts val="6800"/>
              </a:lnSpc>
            </a:pPr>
            <a:r>
              <a:rPr lang="en-US" sz="6800" spc="-374" dirty="0" smtClean="0">
                <a:solidFill>
                  <a:srgbClr val="0D2529"/>
                </a:solidFill>
                <a:latin typeface="Heading Now 71-78"/>
                <a:ea typeface="Heading Now 71-78"/>
                <a:cs typeface="Heading Now 71-78"/>
                <a:sym typeface="Heading Now 71-78"/>
              </a:rPr>
              <a:t>CONT.</a:t>
            </a:r>
            <a:endParaRPr lang="en-US" sz="6800" spc="-374" dirty="0">
              <a:solidFill>
                <a:srgbClr val="0D2529"/>
              </a:solidFill>
              <a:latin typeface="Heading Now 71-78"/>
              <a:ea typeface="Heading Now 71-78"/>
              <a:cs typeface="Heading Now 71-78"/>
              <a:sym typeface="Heading Now 71-78"/>
            </a:endParaRPr>
          </a:p>
        </p:txBody>
      </p:sp>
      <p:sp>
        <p:nvSpPr>
          <p:cNvPr id="11" name="Freeform 11"/>
          <p:cNvSpPr/>
          <p:nvPr/>
        </p:nvSpPr>
        <p:spPr>
          <a:xfrm rot="-10800000">
            <a:off x="7404267" y="1432400"/>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7"/>
                </a:ext>
              </a:extLst>
            </a:blip>
            <a:stretch>
              <a:fillRect t="-128590" r="-182255"/>
            </a:stretch>
          </a:blipFill>
        </p:spPr>
      </p:sp>
      <p:sp>
        <p:nvSpPr>
          <p:cNvPr id="12" name="Freeform 12"/>
          <p:cNvSpPr/>
          <p:nvPr/>
        </p:nvSpPr>
        <p:spPr>
          <a:xfrm rot="-10800000">
            <a:off x="14081016" y="9710306"/>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4">
              <a:extLst>
                <a:ext uri="{96DAC541-7B7A-43D3-8B79-37D633B846F1}">
                  <asvg:svgBlip xmlns:asvg="http://schemas.microsoft.com/office/drawing/2016/SVG/main" xmlns="" r:embed="rId7"/>
                </a:ext>
              </a:extLst>
            </a:blip>
            <a:stretch>
              <a:fillRect t="-128590" r="-182255"/>
            </a:stretch>
          </a:blipFill>
        </p:spPr>
      </p:sp>
      <p:sp>
        <p:nvSpPr>
          <p:cNvPr id="13" name="Freeform 13"/>
          <p:cNvSpPr/>
          <p:nvPr/>
        </p:nvSpPr>
        <p:spPr>
          <a:xfrm rot="-10800000">
            <a:off x="16749235" y="7857347"/>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4">
              <a:extLst>
                <a:ext uri="{96DAC541-7B7A-43D3-8B79-37D633B846F1}">
                  <asvg:svgBlip xmlns:asvg="http://schemas.microsoft.com/office/drawing/2016/SVG/main" xmlns="" r:embed="rId7"/>
                </a:ext>
              </a:extLst>
            </a:blip>
            <a:stretch>
              <a:fillRect t="-128590" r="-182255"/>
            </a:stretch>
          </a:blipFill>
        </p:spPr>
      </p:sp>
      <p:sp>
        <p:nvSpPr>
          <p:cNvPr id="14" name="Freeform 14"/>
          <p:cNvSpPr/>
          <p:nvPr/>
        </p:nvSpPr>
        <p:spPr>
          <a:xfrm>
            <a:off x="16267785" y="668240"/>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15" name="Freeform 15"/>
          <p:cNvSpPr/>
          <p:nvPr/>
        </p:nvSpPr>
        <p:spPr>
          <a:xfrm>
            <a:off x="668240" y="7903867"/>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8" name="Rectangle 7"/>
          <p:cNvSpPr/>
          <p:nvPr/>
        </p:nvSpPr>
        <p:spPr>
          <a:xfrm>
            <a:off x="316847" y="1841601"/>
            <a:ext cx="17930290" cy="6555641"/>
          </a:xfrm>
          <a:prstGeom prst="rect">
            <a:avLst/>
          </a:prstGeom>
        </p:spPr>
        <p:txBody>
          <a:bodyPr wrap="square">
            <a:spAutoFit/>
          </a:bodyPr>
          <a:lstStyle/>
          <a:p>
            <a:endParaRPr lang="en-US" dirty="0"/>
          </a:p>
          <a:p>
            <a:r>
              <a:rPr lang="en-US" sz="2400" dirty="0"/>
              <a:t>Super Admin Website</a:t>
            </a:r>
          </a:p>
          <a:p>
            <a:endParaRPr lang="en-US" sz="2400" dirty="0"/>
          </a:p>
          <a:p>
            <a:r>
              <a:rPr lang="en-US" sz="2400" dirty="0"/>
              <a:t>The Super Admin website provides system-wide management across all registered schools. After logging in, the Super Admin can access an overview of the entire School-Parental System and select schools to view their information. The main management function is Schools Management, where the Super Admin can add a new school, view school information, edit existing school details, and deactivate a school when necessary. This follows a similar interaction pattern to the learner, teacher, and parent management screens used by the School Admin. The Super Admin can also view users and reports across schools. In Communication Management, the Super Admin creates system-level communication such as scheduled maintenance notices, platform updates, security notices, tutorial guides, training sessions, and system rollout events. These communications may be directed to all schools, selected schools, School Administrators, teachers, or other permitted system users.</a:t>
            </a:r>
          </a:p>
          <a:p>
            <a:endParaRPr lang="en-US" sz="2400" dirty="0"/>
          </a:p>
          <a:p>
            <a:r>
              <a:rPr lang="en-US" sz="2400" dirty="0"/>
              <a:t>Overall Workflow</a:t>
            </a:r>
          </a:p>
          <a:p>
            <a:endParaRPr lang="en-US" sz="2400" dirty="0"/>
          </a:p>
          <a:p>
            <a:r>
              <a:rPr lang="en-US" sz="2400" dirty="0"/>
              <a:t>Together, the three web interfaces operate as one role-based system. The School Admin manages school information and users, the Teacher manages academic activities such as attendance and grades, and the Super Admin manages schools and system-wide functions. Each interface only exposes the functions required by that role, helping to keep the system </a:t>
            </a:r>
            <a:r>
              <a:rPr lang="en-US" sz="2400" dirty="0" err="1"/>
              <a:t>organised</a:t>
            </a:r>
            <a:r>
              <a:rPr lang="en-US" sz="2400" dirty="0"/>
              <a:t>, secure, and easier for users to understand.</a:t>
            </a:r>
            <a:endParaRPr lang="en-ZA" sz="2400" dirty="0"/>
          </a:p>
          <a:p>
            <a:endParaRPr lang="en-US" dirty="0"/>
          </a:p>
        </p:txBody>
      </p:sp>
    </p:spTree>
    <p:extLst>
      <p:ext uri="{BB962C8B-B14F-4D97-AF65-F5344CB8AC3E}">
        <p14:creationId xmlns:p14="http://schemas.microsoft.com/office/powerpoint/2010/main" val="22968838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5499202" y="171218"/>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3" name="Freeform 3"/>
          <p:cNvSpPr/>
          <p:nvPr/>
        </p:nvSpPr>
        <p:spPr>
          <a:xfrm>
            <a:off x="16457741" y="3655569"/>
            <a:ext cx="2975862" cy="2975862"/>
          </a:xfrm>
          <a:custGeom>
            <a:avLst/>
            <a:gdLst/>
            <a:ahLst/>
            <a:cxnLst/>
            <a:rect l="l" t="t" r="r" b="b"/>
            <a:pathLst>
              <a:path w="2975862" h="2975862">
                <a:moveTo>
                  <a:pt x="0" y="0"/>
                </a:moveTo>
                <a:lnTo>
                  <a:pt x="2975861" y="0"/>
                </a:lnTo>
                <a:lnTo>
                  <a:pt x="2975861"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sp>
        <p:nvSpPr>
          <p:cNvPr id="4" name="Freeform 4"/>
          <p:cNvSpPr/>
          <p:nvPr/>
        </p:nvSpPr>
        <p:spPr>
          <a:xfrm>
            <a:off x="1292427" y="8675874"/>
            <a:ext cx="2975862" cy="2975862"/>
          </a:xfrm>
          <a:custGeom>
            <a:avLst/>
            <a:gdLst/>
            <a:ahLst/>
            <a:cxnLst/>
            <a:rect l="l" t="t" r="r" b="b"/>
            <a:pathLst>
              <a:path w="2975862" h="2975862">
                <a:moveTo>
                  <a:pt x="0" y="0"/>
                </a:moveTo>
                <a:lnTo>
                  <a:pt x="2975862" y="0"/>
                </a:lnTo>
                <a:lnTo>
                  <a:pt x="2975862" y="2975862"/>
                </a:lnTo>
                <a:lnTo>
                  <a:pt x="0" y="2975862"/>
                </a:lnTo>
                <a:lnTo>
                  <a:pt x="0" y="0"/>
                </a:lnTo>
                <a:close/>
              </a:path>
            </a:pathLst>
          </a:custGeom>
          <a:blipFill>
            <a:blip r:embed="rId2">
              <a:alphaModFix amt="8999"/>
              <a:extLst>
                <a:ext uri="{96DAC541-7B7A-43D3-8B79-37D633B846F1}">
                  <asvg:svgBlip xmlns:asvg="http://schemas.microsoft.com/office/drawing/2016/SVG/main" xmlns="" r:embed="rId3"/>
                </a:ext>
              </a:extLst>
            </a:blip>
            <a:stretch>
              <a:fillRect/>
            </a:stretch>
          </a:blipFill>
          <a:ln cap="sq">
            <a:noFill/>
            <a:prstDash val="solid"/>
            <a:miter/>
          </a:ln>
        </p:spPr>
      </p:sp>
      <p:grpSp>
        <p:nvGrpSpPr>
          <p:cNvPr id="5" name="Group 5"/>
          <p:cNvGrpSpPr/>
          <p:nvPr/>
        </p:nvGrpSpPr>
        <p:grpSpPr>
          <a:xfrm>
            <a:off x="-493587" y="-349695"/>
            <a:ext cx="2117269" cy="9607995"/>
            <a:chOff x="0" y="0"/>
            <a:chExt cx="557635" cy="2530501"/>
          </a:xfrm>
        </p:grpSpPr>
        <p:sp>
          <p:nvSpPr>
            <p:cNvPr id="6" name="Freeform 6"/>
            <p:cNvSpPr/>
            <p:nvPr/>
          </p:nvSpPr>
          <p:spPr>
            <a:xfrm>
              <a:off x="0" y="0"/>
              <a:ext cx="557635" cy="2530501"/>
            </a:xfrm>
            <a:custGeom>
              <a:avLst/>
              <a:gdLst/>
              <a:ahLst/>
              <a:cxnLst/>
              <a:rect l="l" t="t" r="r" b="b"/>
              <a:pathLst>
                <a:path w="557635" h="2530501">
                  <a:moveTo>
                    <a:pt x="0" y="0"/>
                  </a:moveTo>
                  <a:lnTo>
                    <a:pt x="557635" y="0"/>
                  </a:lnTo>
                  <a:lnTo>
                    <a:pt x="557635" y="2530501"/>
                  </a:lnTo>
                  <a:lnTo>
                    <a:pt x="0" y="2530501"/>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7" name="TextBox 7"/>
            <p:cNvSpPr txBox="1"/>
            <p:nvPr/>
          </p:nvSpPr>
          <p:spPr>
            <a:xfrm>
              <a:off x="0" y="-38100"/>
              <a:ext cx="557635" cy="256860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2700000">
            <a:off x="14077961" y="7133930"/>
            <a:ext cx="1348315" cy="1348315"/>
          </a:xfrm>
          <a:custGeom>
            <a:avLst/>
            <a:gdLst/>
            <a:ahLst/>
            <a:cxnLst/>
            <a:rect l="l" t="t" r="r" b="b"/>
            <a:pathLst>
              <a:path w="1348315" h="1348315">
                <a:moveTo>
                  <a:pt x="0" y="0"/>
                </a:moveTo>
                <a:lnTo>
                  <a:pt x="1348315" y="0"/>
                </a:lnTo>
                <a:lnTo>
                  <a:pt x="1348315" y="1348316"/>
                </a:lnTo>
                <a:lnTo>
                  <a:pt x="0" y="13483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TextBox 9"/>
          <p:cNvSpPr txBox="1"/>
          <p:nvPr/>
        </p:nvSpPr>
        <p:spPr>
          <a:xfrm>
            <a:off x="2996283" y="4064221"/>
            <a:ext cx="10158172" cy="1717653"/>
          </a:xfrm>
          <a:prstGeom prst="rect">
            <a:avLst/>
          </a:prstGeom>
        </p:spPr>
        <p:txBody>
          <a:bodyPr lIns="0" tIns="0" rIns="0" bIns="0" rtlCol="0" anchor="t">
            <a:spAutoFit/>
          </a:bodyPr>
          <a:lstStyle/>
          <a:p>
            <a:pPr algn="l">
              <a:lnSpc>
                <a:spcPts val="10999"/>
              </a:lnSpc>
            </a:pPr>
            <a:r>
              <a:rPr lang="en-US" sz="10999" spc="-604">
                <a:solidFill>
                  <a:srgbClr val="0D2529"/>
                </a:solidFill>
                <a:latin typeface="Heading Now 71-78"/>
                <a:ea typeface="Heading Now 71-78"/>
                <a:cs typeface="Heading Now 71-78"/>
                <a:sym typeface="Heading Now 71-78"/>
              </a:rPr>
              <a:t>QUESTIONS </a:t>
            </a:r>
          </a:p>
        </p:txBody>
      </p:sp>
      <p:sp>
        <p:nvSpPr>
          <p:cNvPr id="10" name="Freeform 10"/>
          <p:cNvSpPr/>
          <p:nvPr/>
        </p:nvSpPr>
        <p:spPr>
          <a:xfrm rot="-10800000">
            <a:off x="7404267" y="1432400"/>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1" name="Freeform 11"/>
          <p:cNvSpPr/>
          <p:nvPr/>
        </p:nvSpPr>
        <p:spPr>
          <a:xfrm rot="-10800000">
            <a:off x="14081016" y="9710306"/>
            <a:ext cx="671103" cy="453500"/>
          </a:xfrm>
          <a:custGeom>
            <a:avLst/>
            <a:gdLst/>
            <a:ahLst/>
            <a:cxnLst/>
            <a:rect l="l" t="t" r="r" b="b"/>
            <a:pathLst>
              <a:path w="671103" h="453500">
                <a:moveTo>
                  <a:pt x="0" y="0"/>
                </a:moveTo>
                <a:lnTo>
                  <a:pt x="671102" y="0"/>
                </a:lnTo>
                <a:lnTo>
                  <a:pt x="671102" y="453499"/>
                </a:lnTo>
                <a:lnTo>
                  <a:pt x="0" y="453499"/>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2" name="Freeform 12"/>
          <p:cNvSpPr/>
          <p:nvPr/>
        </p:nvSpPr>
        <p:spPr>
          <a:xfrm rot="-10800000">
            <a:off x="16749235" y="7857347"/>
            <a:ext cx="671103" cy="453500"/>
          </a:xfrm>
          <a:custGeom>
            <a:avLst/>
            <a:gdLst/>
            <a:ahLst/>
            <a:cxnLst/>
            <a:rect l="l" t="t" r="r" b="b"/>
            <a:pathLst>
              <a:path w="671103" h="453500">
                <a:moveTo>
                  <a:pt x="0" y="0"/>
                </a:moveTo>
                <a:lnTo>
                  <a:pt x="671102" y="0"/>
                </a:lnTo>
                <a:lnTo>
                  <a:pt x="671102" y="453500"/>
                </a:lnTo>
                <a:lnTo>
                  <a:pt x="0" y="453500"/>
                </a:lnTo>
                <a:lnTo>
                  <a:pt x="0" y="0"/>
                </a:lnTo>
                <a:close/>
              </a:path>
            </a:pathLst>
          </a:custGeom>
          <a:blipFill>
            <a:blip r:embed="rId6">
              <a:extLst>
                <a:ext uri="{96DAC541-7B7A-43D3-8B79-37D633B846F1}">
                  <asvg:svgBlip xmlns:asvg="http://schemas.microsoft.com/office/drawing/2016/SVG/main" xmlns="" r:embed="rId7"/>
                </a:ext>
              </a:extLst>
            </a:blip>
            <a:stretch>
              <a:fillRect t="-128590" r="-182255"/>
            </a:stretch>
          </a:blipFill>
        </p:spPr>
      </p:sp>
      <p:sp>
        <p:nvSpPr>
          <p:cNvPr id="13" name="Freeform 13"/>
          <p:cNvSpPr/>
          <p:nvPr/>
        </p:nvSpPr>
        <p:spPr>
          <a:xfrm>
            <a:off x="16267785" y="668240"/>
            <a:ext cx="720920" cy="360460"/>
          </a:xfrm>
          <a:custGeom>
            <a:avLst/>
            <a:gdLst/>
            <a:ahLst/>
            <a:cxnLst/>
            <a:rect l="l" t="t" r="r" b="b"/>
            <a:pathLst>
              <a:path w="720920" h="360460">
                <a:moveTo>
                  <a:pt x="0" y="0"/>
                </a:moveTo>
                <a:lnTo>
                  <a:pt x="720919" y="0"/>
                </a:lnTo>
                <a:lnTo>
                  <a:pt x="720919"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sp>
        <p:nvSpPr>
          <p:cNvPr id="14" name="Freeform 14"/>
          <p:cNvSpPr/>
          <p:nvPr/>
        </p:nvSpPr>
        <p:spPr>
          <a:xfrm>
            <a:off x="668240" y="7903867"/>
            <a:ext cx="720920" cy="360460"/>
          </a:xfrm>
          <a:custGeom>
            <a:avLst/>
            <a:gdLst/>
            <a:ahLst/>
            <a:cxnLst/>
            <a:rect l="l" t="t" r="r" b="b"/>
            <a:pathLst>
              <a:path w="720920" h="360460">
                <a:moveTo>
                  <a:pt x="0" y="0"/>
                </a:moveTo>
                <a:lnTo>
                  <a:pt x="720920" y="0"/>
                </a:lnTo>
                <a:lnTo>
                  <a:pt x="720920" y="360460"/>
                </a:lnTo>
                <a:lnTo>
                  <a:pt x="0" y="36046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a:ln cap="sq">
            <a:noFill/>
            <a:prstDash val="solid"/>
            <a:miter/>
          </a:ln>
        </p:spPr>
      </p:sp>
      <p:grpSp>
        <p:nvGrpSpPr>
          <p:cNvPr id="15" name="Group 15"/>
          <p:cNvGrpSpPr/>
          <p:nvPr/>
        </p:nvGrpSpPr>
        <p:grpSpPr>
          <a:xfrm>
            <a:off x="12626920" y="1891843"/>
            <a:ext cx="5479888" cy="6869648"/>
            <a:chOff x="0" y="0"/>
            <a:chExt cx="5956300" cy="7466884"/>
          </a:xfrm>
        </p:grpSpPr>
        <p:sp>
          <p:nvSpPr>
            <p:cNvPr id="16" name="Freeform 16"/>
            <p:cNvSpPr/>
            <p:nvPr/>
          </p:nvSpPr>
          <p:spPr>
            <a:xfrm>
              <a:off x="0" y="0"/>
              <a:ext cx="5956300" cy="7466884"/>
            </a:xfrm>
            <a:custGeom>
              <a:avLst/>
              <a:gdLst/>
              <a:ahLst/>
              <a:cxnLst/>
              <a:rect l="l" t="t" r="r" b="b"/>
              <a:pathLst>
                <a:path w="5956300" h="7466884">
                  <a:moveTo>
                    <a:pt x="0" y="7466884"/>
                  </a:moveTo>
                  <a:lnTo>
                    <a:pt x="692150" y="0"/>
                  </a:lnTo>
                  <a:lnTo>
                    <a:pt x="5956300" y="0"/>
                  </a:lnTo>
                  <a:lnTo>
                    <a:pt x="5264150" y="7466884"/>
                  </a:lnTo>
                  <a:close/>
                </a:path>
              </a:pathLst>
            </a:custGeom>
            <a:blipFill>
              <a:blip r:embed="rId10"/>
              <a:stretch>
                <a:fillRect l="-8763" r="-8763"/>
              </a:stretch>
            </a:blipFill>
          </p:spPr>
        </p:sp>
      </p:grpSp>
      <p:grpSp>
        <p:nvGrpSpPr>
          <p:cNvPr id="17" name="Group 17"/>
          <p:cNvGrpSpPr/>
          <p:nvPr/>
        </p:nvGrpSpPr>
        <p:grpSpPr>
          <a:xfrm rot="5400000">
            <a:off x="6480593" y="728297"/>
            <a:ext cx="1043910" cy="10757732"/>
            <a:chOff x="0" y="0"/>
            <a:chExt cx="274939" cy="2833312"/>
          </a:xfrm>
        </p:grpSpPr>
        <p:sp>
          <p:nvSpPr>
            <p:cNvPr id="18" name="Freeform 18"/>
            <p:cNvSpPr/>
            <p:nvPr/>
          </p:nvSpPr>
          <p:spPr>
            <a:xfrm>
              <a:off x="0" y="0"/>
              <a:ext cx="274939" cy="2833312"/>
            </a:xfrm>
            <a:custGeom>
              <a:avLst/>
              <a:gdLst/>
              <a:ahLst/>
              <a:cxnLst/>
              <a:rect l="l" t="t" r="r" b="b"/>
              <a:pathLst>
                <a:path w="274939" h="2833312">
                  <a:moveTo>
                    <a:pt x="0" y="0"/>
                  </a:moveTo>
                  <a:lnTo>
                    <a:pt x="274939" y="0"/>
                  </a:lnTo>
                  <a:lnTo>
                    <a:pt x="274939" y="2833312"/>
                  </a:lnTo>
                  <a:lnTo>
                    <a:pt x="0" y="2833312"/>
                  </a:lnTo>
                  <a:close/>
                </a:path>
              </a:pathLst>
            </a:custGeom>
            <a:gradFill rotWithShape="1">
              <a:gsLst>
                <a:gs pos="0">
                  <a:srgbClr val="1E3942">
                    <a:alpha val="100000"/>
                  </a:srgbClr>
                </a:gs>
                <a:gs pos="50000">
                  <a:srgbClr val="0D2529">
                    <a:alpha val="16000"/>
                  </a:srgbClr>
                </a:gs>
                <a:gs pos="100000">
                  <a:srgbClr val="0D2529">
                    <a:alpha val="0"/>
                  </a:srgbClr>
                </a:gs>
              </a:gsLst>
              <a:lin ang="5400000"/>
            </a:gradFill>
          </p:spPr>
        </p:sp>
        <p:sp>
          <p:nvSpPr>
            <p:cNvPr id="19" name="TextBox 19"/>
            <p:cNvSpPr txBox="1"/>
            <p:nvPr/>
          </p:nvSpPr>
          <p:spPr>
            <a:xfrm>
              <a:off x="0" y="-38100"/>
              <a:ext cx="274939" cy="2871412"/>
            </a:xfrm>
            <a:prstGeom prst="rect">
              <a:avLst/>
            </a:prstGeom>
          </p:spPr>
          <p:txBody>
            <a:bodyPr lIns="50800" tIns="50800" rIns="50800" bIns="50800" rtlCol="0" anchor="ctr"/>
            <a:lstStyle/>
            <a:p>
              <a:pPr algn="ctr">
                <a:lnSpc>
                  <a:spcPts val="2659"/>
                </a:lnSpc>
              </a:pPr>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TotalTime>
  <Words>1982</Words>
  <Application>Microsoft Office PowerPoint</Application>
  <PresentationFormat>Custom</PresentationFormat>
  <Paragraphs>84</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Poppins Bold</vt:lpstr>
      <vt:lpstr>Arial</vt:lpstr>
      <vt:lpstr>TT Firs Neue</vt:lpstr>
      <vt:lpstr>Canva Sans</vt:lpstr>
      <vt:lpstr>Agrandir Bold</vt:lpstr>
      <vt:lpstr>Abril Fatface</vt:lpstr>
      <vt:lpstr>Poppins</vt:lpstr>
      <vt:lpstr>TT Firs Neue Bold</vt:lpstr>
      <vt:lpstr>Heading Now 71-78</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 Modern Pitch Deck Presentation</dc:title>
  <dc:creator>Admin</dc:creator>
  <cp:lastModifiedBy>Admin</cp:lastModifiedBy>
  <cp:revision>8</cp:revision>
  <dcterms:created xsi:type="dcterms:W3CDTF">2006-08-16T00:00:00Z</dcterms:created>
  <dcterms:modified xsi:type="dcterms:W3CDTF">2026-09-25T19:53:53Z</dcterms:modified>
  <dc:identifier>DAHTeYBmazg</dc:identifier>
</cp:coreProperties>
</file>